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0:30. Presentamos una propuesta de pulsera para registrar características del temblor y estudiar una respuesta mecánica en condiciones controladas. El objetivo de esta exposición es justificar la problemática y explicar su relación con los ODS. El proyecto está en etapa académica, sin eficacia clínica demostrada.</a:t>
            </a:r>
          </a:p>
          <a:p>
            <a:endParaRPr/>
          </a:p>
          <a:p>
            <a:r>
              <a:t>Fuentes:</a:t>
            </a:r>
          </a:p>
          <a:p>
            <a:endParaRPr/>
          </a:p>
          <a:p>
            <a:endParaRPr/>
          </a:p>
          <a:p>
            <a:r>
              <a:t>Imagen referencial generada mediante ImageGen integrado. Prompt: Use case: product-mockup. Create a premium photorealistic conceptual product illustration for an academic presentation about a wrist-worn tremor monitoring bracelet. A natural adult forearm and relaxed hand wearing a compact matte charcoal wristband with a small rectangular sensor housing, a thin turquoise accent and black fabric strap. No display, no logos, no writing. Side three-quarter closeup, complete wristband visible, realistic anatomy. Portrait 4:5 composition, centered subject with generous space, solid deep petroleum teal background #09292E, elegant soft studio lighting. This is an unbuilt academic concept, avoid implying clinical certification or efficacy.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1:10. La OMS describe síntomas motores, entre ellos temblor, lentitud y rigidez, que pueden dificultar las actividades cotidianas. Nuestra propuesta se concentra en el temblor de la muñeca. Parkinson sirve como contexto de la problemática, pero un temblor aislado no confirma esa enfermedad. La brecha planteada es disponer de un registro portátil y comparable del movimiento. Todavía debemos validar esa necesidad con usuarios y profesionales, además de comprobar comodidad y costo.</a:t>
            </a:r>
          </a:p>
          <a:p>
            <a:endParaRPr/>
          </a:p>
          <a:p>
            <a:r>
              <a:t>Fuentes:</a:t>
            </a:r>
          </a:p>
          <a:p>
            <a:r>
              <a:t>https://www.who.int/news-room/fact-sheets/detail/parkinson-disease</a:t>
            </a:r>
          </a:p>
          <a:p>
            <a:endParaRPr/>
          </a:p>
          <a:p>
            <a:r>
              <a:t>Imagen referencial generada mediante ImageGen integrado. Prompt: Use case: photorealistic-natural. Editorial reference illustration for a university presentation about difficulties of hand movement in everyday activities. Close-up of an older adult's hand holding a pen above a blank notebook on a warm wood table, other hand lightly resting beside notebook, no writing, no readable text, natural anatomy. Cropped at forearms, no face, no medical device. Gentle window light, dignified everyday context, beige and muted teal palette. Portrait 4:5 framing, hands and pen are the focus. Do not simulate or diagnose a medical condition.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1:15. Diferenciamos el conjunto de afecciones neurológicas de la enfermedad de Parkinson. La primera cifra supera los tres mil millones de personas en 2021. Las otras tres cifras se refieren a Parkinson en 2019. AVAD significa años de vida ajustados por discapacidad: combina años perdidos por muerte prematura y años vividos con discapacidad. Mostramos el año del dato para evitar presentarlo como una medición de 2026. Estas estimaciones no representan a personas que necesariamente necesitan una pulsera.</a:t>
            </a:r>
          </a:p>
          <a:p>
            <a:endParaRPr/>
          </a:p>
          <a:p>
            <a:r>
              <a:t>Fuentes:</a:t>
            </a:r>
          </a:p>
          <a:p>
            <a:r>
              <a:t>https://www.who.int/news/item/14-03-2024-over-1-in-3-people-affected-by-neurological-conditions--the-leading-cause-of-illness-and-disability-worldwide</a:t>
            </a:r>
          </a:p>
          <a:p>
            <a:r>
              <a:t>https://www.who.int/news-room/fact-sheets/detail/parkinson-disease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1:15. El estudio publicado en 2024 analizó 1 609 participantes de una población del norte peruano. Identificó 26 personas con síntomas y puntajes compatibles con Parkinson, equivalentes al 1,6 %. El intervalo de confianza fue de 1,0 a 2,4 %. El criterio fue un cuestionario, no confirmación por especialista. Por tanto, no afirmamos que el 1,6 % de todos los peruanos tenga Parkinson. El dato aporta contexto local, pero no demuestra la demanda ni la eficacia del dispositivo.</a:t>
            </a:r>
          </a:p>
          <a:p>
            <a:endParaRPr/>
          </a:p>
          <a:p>
            <a:r>
              <a:t>Fuentes:</a:t>
            </a:r>
          </a:p>
          <a:p>
            <a:r>
              <a:t>https://pmc.ncbi.nlm.nih.gov/articles/PMC11415045/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1:10. El planteamiento del equipo combina un sensor inercial MPU6050 con un ESP32 y un actuador mecánico experimental. Se busca registrar frecuencia y un índice de temblor. El tipo de actuador, el algoritmo y los requisitos cuantitativos todavía requieren definición. Las patentes citadas aportan antecedentes de medición de movimiento, amortiguamiento y reducción de temblor. Son conceptos de referencia y no prueban la eficacia del prototipo. La reducción del temblor es una hipótesis por evaluar, no un resultado obtenido.</a:t>
            </a:r>
          </a:p>
          <a:p>
            <a:endParaRPr/>
          </a:p>
          <a:p>
            <a:r>
              <a:t>Fuentes:</a:t>
            </a:r>
          </a:p>
          <a:p>
            <a:r>
              <a:t>https://patents.google.com/patent/US20220322970A1/en</a:t>
            </a:r>
          </a:p>
          <a:p>
            <a:r>
              <a:t>https://patents.google.com/patent/US20220054349A1/en</a:t>
            </a:r>
          </a:p>
          <a:p>
            <a:r>
              <a:t>https://patents.google.com/patent/US20200163588A1/en</a:t>
            </a:r>
          </a:p>
          <a:p>
            <a:endParaRPr/>
          </a:p>
          <a:p>
            <a:r>
              <a:t>Imagen referencial generada mediante ImageGen integrado. Prompt: Use case: product-mockup. An exploded conceptual 3D illustration of a small academic wrist-worn motion monitoring bracelet on a solid dark petroleum teal background #09292E. Show a matte charcoal rectangular top shell floating above one small green generic circuit board, a slim rechargeable battery and the lower shell attached to a black fabric wrist strap. A small turquoise accent on housing. Technically plausible but explicitly generic: no model labels, text, logos, arrows, clinical symbols, screens or numeric measurements. Clean isometric angle, centered portrait 4:5 composition, studio lighting, crisp mechanical details, not a manufactured or validated product.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1:30. Primero se propone calibrar el sensor y medir movimientos conocidos en un banco de pruebas. Luego se comparan las condiciones con actuador apagado y encendido, usando el mismo montaje, tarea y duración. Conviene alternar o aleatorizar el orden para reducir el efecto de fatiga y deriva. Hay que fijar antes la frecuencia de muestreo, los filtros, las unidades y la definición del índice. El análisis pareado reportará diferencias e intervalos de confianza, además del error respecto a una referencia y la repetibilidad. El tamaño de muestra y la prueba estadística se definirán según un piloto y los supuestos de los datos. Una prueba en personas requerirá evaluación ética y supervisión adecuada. No deben trasladarse al prototipo los resultados publicados por otros equipos.</a:t>
            </a: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1:30. El ODS principal es Salud y bienestar. La meta 3.8 abarca cobertura sanitaria universal, protección financiera y acceso a servicios esenciales, medicamentos y vacunas. El indicador elegido es 3.8.1. El ODS 9 es secundario por la actividad de investigación y desarrollo: sus indicadores 9.5.1 y 9.5.2 miden gasto en I+D respecto al PIB e investigadores equivalentes a tiempo completo por millón de habitantes. El ODS 10 es una alineación indirecta: la intención de bajo costo se relaciona con inclusión, pero aún falta un presupuesto y evaluación de accesibilidad. El indicador 10.2.1 mide personas bajo el 50 % de la mediana de ingresos por sexo, edad y discapacidad. Estos indicadores nacionales no son métricas técnicas de una pulsera. Las métricas propias serán error, repetibilidad, autonomía y costo.</a:t>
            </a:r>
          </a:p>
          <a:p>
            <a:endParaRPr/>
          </a:p>
          <a:p>
            <a:r>
              <a:t>Fuentes:</a:t>
            </a:r>
          </a:p>
          <a:p>
            <a:r>
              <a:t>https://unstats.un.org/sdgs/metadata/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0:50. La evidencia permite justificar el problema, pero no demuestra que nuestra solución funcione. El valor inmediato del proyecto es desarrollar una medición objetiva y repetible y evaluar una hipótesis mecánica. El siguiente paso consiste en definir requisitos cuantitativos, documentar un presupuesto y construir el piloto técnico. El ODS 3 guía el propósito y los ODS 9 y 10 aportan una relación secundaria. La pulsera no diagnostica Parkinson ni reemplaza la atención médica.</a:t>
            </a:r>
          </a:p>
          <a:p>
            <a:endParaRPr/>
          </a:p>
          <a:p>
            <a:r>
              <a:t>Fuentes:</a:t>
            </a:r>
          </a:p>
          <a:p>
            <a:r>
              <a:t>https://www.who.int/news-room/fact-sheets/detail/parkinson-disease</a:t>
            </a:r>
          </a:p>
          <a:p>
            <a:r>
              <a:t>https://pmc.ncbi.nlm.nih.gov/articles/PMC11415045/</a:t>
            </a:r>
          </a:p>
          <a:p>
            <a:r>
              <a:t>https://unstats.un.org/sdgs/metadata/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0:20. Fuentes para la problemática y las estadísticas.</a:t>
            </a:r>
          </a:p>
          <a:p>
            <a:endParaRPr/>
          </a:p>
          <a:p>
            <a:r>
              <a:t>1. World Health Organization. Parkinson disease [Internet]. Geneva: World Health Organization; 2023 Aug 9 [citado 16 sep 2026]. Disponible en: https://www.who.int/news-room/fact-sheets/detail/parkinson-disease</a:t>
            </a:r>
          </a:p>
          <a:p>
            <a:endParaRPr/>
          </a:p>
          <a:p>
            <a:r>
              <a:t>2. World Health Organization. Over 1 in 3 people affected by neurological conditions, the leading cause of illness and disability worldwide [Internet]. Geneva: World Health Organization; 2024 Mar 14 [citado 16 sep 2026]. Disponible en: https://www.who.int/news/item/14-03-2024-over-1-in-3-people-affected-by-neurological-conditions--the-leading-cause-of-illness-and-disability-worldwide</a:t>
            </a:r>
          </a:p>
          <a:p>
            <a:endParaRPr/>
          </a:p>
          <a:p>
            <a:r>
              <a:t>3. Bernabe-Ortiz A, Carrillo-Larco RM. Estimating the prevalence, factors, and conditions associated with Parkinson disease: a population-based study in Peru. Cad Saude Publica. 2024;40(9):e00011324. Disponible en: https://doi.org/10.1590/0102-311XEN011324</a:t>
            </a: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0:20. Antecedentes técnicos y fuente oficial para los ODS.</a:t>
            </a:r>
          </a:p>
          <a:p>
            <a:endParaRPr/>
          </a:p>
          <a:p>
            <a:r>
              <a:t>4. Singh J, Mandal P, Singh-Miller N, Sharma P, inventores. Innovative kit that includes a wearable for detecting, characterizing, and monitoring involuntary movement and attachable non-intrusive interventions to relieve tremors in human limbs. Solicitud de patente estadounidense US20220322970A1 [Internet]. 2022 Oct 13 [citado 16 sep 2026]. Disponible en: https://patents.google.com/patent/US20220322970A1/en</a:t>
            </a:r>
          </a:p>
          <a:p>
            <a:endParaRPr/>
          </a:p>
          <a:p>
            <a:r>
              <a:t>5. Narula M, inventor; Stabilife LLC, solicitante. Wearable device to treat tremor. Solicitud de patente estadounidense US20220054349A1 [Internet]. 2022 Feb 24 [citado 16 sep 2026]. Disponible en: https://patents.google.com/patent/US20220054349A1/en</a:t>
            </a:r>
          </a:p>
          <a:p>
            <a:endParaRPr/>
          </a:p>
          <a:p>
            <a:r>
              <a:t>6. Prevost NE, Goddard NS, Spivey CC, inventores. Systems, methods, and devices for tremor reduction. Solicitud de patente estadounidense US20200163588A1 [Internet]. 2020 May 28 [citado 16 sep 2026]. Disponible en: https://patents.google.com/patent/US20200163588A1/en</a:t>
            </a:r>
          </a:p>
          <a:p>
            <a:endParaRPr/>
          </a:p>
          <a:p>
            <a:r>
              <a:t>7. United Nations Statistics Division. SDG indicators: metadata repository [Internet]. New York: United Nations; [citado 16 sep 2026]. Disponible en: https://unstats.un.org/sdgs/metadata/</a:t>
            </a:r>
          </a:p>
          <a:p>
            <a:endParaRPr/>
          </a:p>
          <a:p>
            <a:r>
              <a:t>Créditos de imágenes: ilustraciones conceptuales generadas con la herramienta integrada ImageGen de OpenAI para esta presentación, 16 sep 2026. Diapositivas 1, 2 y 5. No son imágenes de pacientes ni del prototipo construido.</a:t>
            </a:r>
          </a:p>
          <a:p>
            <a:endParaRPr/>
          </a:p>
          <a:p>
            <a:r>
              <a:t>Fuentes: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who.int/news-room/fact-sheets/detail/parkinson-diseas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hyperlink" Target="https://doi.org/10.1590/0102-311XEN011324" TargetMode="External"/><Relationship Id="rId4" Type="http://schemas.openxmlformats.org/officeDocument/2006/relationships/hyperlink" Target="https://www.who.int/news/item/14-03-2024-over-1-in-3-people-affected-by-neurological-conditions--the-leading-cause-of-illness-and-disability-worldwid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atents.google.com/patent/US20220322970A1/e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unstats.un.org/sdgs/metadata/" TargetMode="External"/><Relationship Id="rId5" Type="http://schemas.openxmlformats.org/officeDocument/2006/relationships/hyperlink" Target="https://patents.google.com/patent/US20200163588A1/en" TargetMode="External"/><Relationship Id="rId4" Type="http://schemas.openxmlformats.org/officeDocument/2006/relationships/hyperlink" Target="https://patents.google.com/patent/US20220054349A1/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pic>
        <p:nvPicPr>
          <p:cNvPr id="7" name="Imagen 6"/>
          <p:cNvPicPr>
            <a:picLocks noChangeAspect="1"/>
          </p:cNvPicPr>
          <p:nvPr/>
        </p:nvPicPr>
        <p:blipFill>
          <a:blip r:embed="rId3"/>
          <a:srcRect t="1579" b="1579"/>
          <a:stretch>
            <a:fillRect/>
          </a:stretch>
        </p:blipFill>
        <p:spPr>
          <a:xfrm>
            <a:off x="6524625" y="0"/>
            <a:ext cx="5667375" cy="6858000"/>
          </a:xfrm>
          <a:prstGeom prst="rect">
            <a:avLst/>
          </a:prstGeom>
        </p:spPr>
      </p:pic>
      <p:sp>
        <p:nvSpPr>
          <p:cNvPr id="2" name="Rectángulo 1">
            <a:extLst>
              <a:ext uri="{FF2B5EF4-FFF2-40B4-BE49-F238E27FC236}">
                <a16:creationId xmlns:a16="http://schemas.microsoft.com/office/drawing/2014/main" id="{6E936180-4B20-48C5-80EB-F82B6294E9F2}"/>
              </a:ext>
            </a:extLst>
          </p:cNvPr>
          <p:cNvSpPr>
            <a:spLocks noGrp="1"/>
          </p:cNvSpPr>
          <p:nvPr/>
        </p:nvSpPr>
        <p:spPr>
          <a:xfrm>
            <a:off x="609600" y="628650"/>
            <a:ext cx="5715000" cy="428625"/>
          </a:xfrm>
          <a:prstGeom prst="rect">
            <a:avLst/>
          </a:prstGeom>
          <a:noFill/>
          <a:ln w="0">
            <a:noFill/>
          </a:ln>
        </p:spPr>
        <p:txBody>
          <a:bodyPr>
            <a:noAutofit/>
          </a:bodyPr>
          <a:lstStyle/>
          <a:p>
            <a:pPr>
              <a:defRPr sz="1575" b="1">
                <a:solidFill>
                  <a:srgbClr val="B4CECA"/>
                </a:solidFill>
                <a:latin typeface="Arial"/>
                <a:ea typeface="Arial"/>
                <a:cs typeface="Arial"/>
              </a:defRPr>
            </a:pPr>
            <a:r>
              <a:rPr sz="1575" b="1">
                <a:solidFill>
                  <a:srgbClr val="B4CECA"/>
                </a:solidFill>
                <a:latin typeface="Arial"/>
                <a:ea typeface="Arial"/>
                <a:cs typeface="Arial"/>
              </a:rPr>
              <a:t>FUNDAMENTOS DE DISEÑO</a:t>
            </a:r>
          </a:p>
        </p:txBody>
      </p:sp>
      <p:sp>
        <p:nvSpPr>
          <p:cNvPr id="3" name="Rectángulo 2">
            <a:extLst>
              <a:ext uri="{FF2B5EF4-FFF2-40B4-BE49-F238E27FC236}">
                <a16:creationId xmlns:a16="http://schemas.microsoft.com/office/drawing/2014/main" id="{8C58D2B2-D845-4C9E-A80D-497624FDE986}"/>
              </a:ext>
            </a:extLst>
          </p:cNvPr>
          <p:cNvSpPr>
            <a:spLocks noGrp="1"/>
          </p:cNvSpPr>
          <p:nvPr/>
        </p:nvSpPr>
        <p:spPr>
          <a:xfrm>
            <a:off x="609600" y="1666875"/>
            <a:ext cx="5905500" cy="1666875"/>
          </a:xfrm>
          <a:prstGeom prst="rect">
            <a:avLst/>
          </a:prstGeom>
          <a:noFill/>
          <a:ln w="0">
            <a:noFill/>
          </a:ln>
        </p:spPr>
        <p:txBody>
          <a:bodyPr>
            <a:noAutofit/>
          </a:bodyPr>
          <a:lstStyle/>
          <a:p>
            <a:pPr>
              <a:defRPr sz="5400" b="1">
                <a:solidFill>
                  <a:srgbClr val="F3F8F7"/>
                </a:solidFill>
                <a:latin typeface="Arial"/>
                <a:ea typeface="Arial"/>
                <a:cs typeface="Arial"/>
              </a:defRPr>
            </a:pPr>
            <a:r>
              <a:rPr sz="5400" b="1">
                <a:solidFill>
                  <a:srgbClr val="F3F8F7"/>
                </a:solidFill>
                <a:latin typeface="Arial"/>
                <a:ea typeface="Arial"/>
                <a:cs typeface="Arial"/>
              </a:rPr>
              <a:t>Pulsera</a:t>
            </a:r>
          </a:p>
          <a:p>
            <a:pPr>
              <a:defRPr sz="5400" b="1">
                <a:solidFill>
                  <a:srgbClr val="F3F8F7"/>
                </a:solidFill>
                <a:latin typeface="Arial"/>
                <a:ea typeface="Arial"/>
                <a:cs typeface="Arial"/>
              </a:defRPr>
            </a:pPr>
            <a:r>
              <a:rPr sz="5400" b="1">
                <a:solidFill>
                  <a:srgbClr val="F3F8F7"/>
                </a:solidFill>
                <a:latin typeface="Arial"/>
                <a:ea typeface="Arial"/>
                <a:cs typeface="Arial"/>
              </a:rPr>
              <a:t>inteligente</a:t>
            </a:r>
          </a:p>
        </p:txBody>
      </p:sp>
      <p:sp>
        <p:nvSpPr>
          <p:cNvPr id="4" name="Rectángulo 3">
            <a:extLst>
              <a:ext uri="{FF2B5EF4-FFF2-40B4-BE49-F238E27FC236}">
                <a16:creationId xmlns:a16="http://schemas.microsoft.com/office/drawing/2014/main" id="{1E06ABF5-256A-44AA-B99D-5C998F8091DE}"/>
              </a:ext>
            </a:extLst>
          </p:cNvPr>
          <p:cNvSpPr>
            <a:spLocks noGrp="1"/>
          </p:cNvSpPr>
          <p:nvPr/>
        </p:nvSpPr>
        <p:spPr>
          <a:xfrm>
            <a:off x="609600" y="3619500"/>
            <a:ext cx="5572125" cy="1028700"/>
          </a:xfrm>
          <a:prstGeom prst="rect">
            <a:avLst/>
          </a:prstGeom>
          <a:noFill/>
          <a:ln w="0">
            <a:noFill/>
          </a:ln>
        </p:spPr>
        <p:txBody>
          <a:bodyPr>
            <a:noAutofit/>
          </a:bodyPr>
          <a:lstStyle/>
          <a:p>
            <a:pPr>
              <a:defRPr sz="3525" b="1">
                <a:solidFill>
                  <a:srgbClr val="67E5BA"/>
                </a:solidFill>
                <a:latin typeface="Arial"/>
                <a:ea typeface="Arial"/>
                <a:cs typeface="Arial"/>
              </a:defRPr>
            </a:pPr>
            <a:r>
              <a:rPr sz="3525" b="1">
                <a:solidFill>
                  <a:srgbClr val="67E5BA"/>
                </a:solidFill>
                <a:latin typeface="Arial"/>
                <a:ea typeface="Arial"/>
                <a:cs typeface="Arial"/>
              </a:rPr>
              <a:t>Monitoreo de temblores</a:t>
            </a:r>
          </a:p>
        </p:txBody>
      </p:sp>
      <p:sp>
        <p:nvSpPr>
          <p:cNvPr id="5" name="Rectángulo 4">
            <a:extLst>
              <a:ext uri="{FF2B5EF4-FFF2-40B4-BE49-F238E27FC236}">
                <a16:creationId xmlns:a16="http://schemas.microsoft.com/office/drawing/2014/main" id="{607CD066-81EF-43F4-9FEE-0D58C08B2187}"/>
              </a:ext>
            </a:extLst>
          </p:cNvPr>
          <p:cNvSpPr>
            <a:spLocks noGrp="1"/>
          </p:cNvSpPr>
          <p:nvPr/>
        </p:nvSpPr>
        <p:spPr>
          <a:xfrm>
            <a:off x="609600" y="5067300"/>
            <a:ext cx="5619750" cy="857250"/>
          </a:xfrm>
          <a:prstGeom prst="rect">
            <a:avLst/>
          </a:prstGeom>
          <a:noFill/>
          <a:ln w="0">
            <a:noFill/>
          </a:ln>
        </p:spPr>
        <p:txBody>
          <a:bodyPr>
            <a:noAutofit/>
          </a:bodyPr>
          <a:lstStyle/>
          <a:p>
            <a:pPr>
              <a:defRPr sz="2175" b="0">
                <a:solidFill>
                  <a:srgbClr val="F3F8F7"/>
                </a:solidFill>
                <a:latin typeface="Arial"/>
                <a:ea typeface="Arial"/>
                <a:cs typeface="Arial"/>
              </a:defRPr>
            </a:pPr>
            <a:r>
              <a:rPr sz="2175" b="0">
                <a:solidFill>
                  <a:srgbClr val="F3F8F7"/>
                </a:solidFill>
                <a:latin typeface="Arial"/>
                <a:ea typeface="Arial"/>
                <a:cs typeface="Arial"/>
              </a:rPr>
              <a:t>Medición portátil y respuesta</a:t>
            </a:r>
          </a:p>
          <a:p>
            <a:pPr>
              <a:defRPr sz="2175" b="0">
                <a:solidFill>
                  <a:srgbClr val="F3F8F7"/>
                </a:solidFill>
                <a:latin typeface="Arial"/>
                <a:ea typeface="Arial"/>
                <a:cs typeface="Arial"/>
              </a:defRPr>
            </a:pPr>
            <a:r>
              <a:rPr sz="2175" b="0">
                <a:solidFill>
                  <a:srgbClr val="F3F8F7"/>
                </a:solidFill>
                <a:latin typeface="Arial"/>
                <a:ea typeface="Arial"/>
                <a:cs typeface="Arial"/>
              </a:rPr>
              <a:t>mecánica experimental</a:t>
            </a:r>
          </a:p>
        </p:txBody>
      </p:sp>
      <p:sp>
        <p:nvSpPr>
          <p:cNvPr id="6" name="Rectángulo 5">
            <a:extLst>
              <a:ext uri="{FF2B5EF4-FFF2-40B4-BE49-F238E27FC236}">
                <a16:creationId xmlns:a16="http://schemas.microsoft.com/office/drawing/2014/main" id="{0D62E93C-CECC-411D-9A42-CB7DF42C7ED2}"/>
              </a:ext>
            </a:extLst>
          </p:cNvPr>
          <p:cNvSpPr>
            <a:spLocks noGrp="1"/>
          </p:cNvSpPr>
          <p:nvPr/>
        </p:nvSpPr>
        <p:spPr>
          <a:xfrm>
            <a:off x="6686550" y="6296025"/>
            <a:ext cx="4762500" cy="428625"/>
          </a:xfrm>
          <a:prstGeom prst="rect">
            <a:avLst/>
          </a:prstGeom>
          <a:noFill/>
          <a:ln w="0">
            <a:noFill/>
          </a:ln>
        </p:spPr>
        <p:txBody>
          <a:bodyPr>
            <a:noAutofit/>
          </a:bodyPr>
          <a:lstStyle/>
          <a:p>
            <a:pPr>
              <a:defRPr sz="1200" b="0">
                <a:solidFill>
                  <a:srgbClr val="B4CECA"/>
                </a:solidFill>
                <a:latin typeface="Arial"/>
                <a:ea typeface="Arial"/>
                <a:cs typeface="Arial"/>
              </a:defRPr>
            </a:pPr>
            <a:r>
              <a:rPr sz="1200" b="0" dirty="0">
                <a:solidFill>
                  <a:srgbClr val="B4CECA"/>
                </a:solidFill>
                <a:latin typeface="Arial"/>
                <a:ea typeface="Arial"/>
                <a:cs typeface="Arial"/>
              </a:rPr>
              <a:t>.</a:t>
            </a:r>
          </a:p>
        </p:txBody>
      </p:sp>
    </p:spTree>
    <p:extLst>
      <p:ext uri="{BB962C8B-B14F-4D97-AF65-F5344CB8AC3E}">
        <p14:creationId xmlns:p14="http://schemas.microsoft.com/office/powerpoint/2010/main" val="346098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D75F87CD-471F-4F21-BBFA-9FFE4BF8D7EE}"/>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El temblor y la vida cotidiana</a:t>
            </a:r>
          </a:p>
        </p:txBody>
      </p:sp>
      <p:sp>
        <p:nvSpPr>
          <p:cNvPr id="2" name="Rectángulo 1">
            <a:extLst>
              <a:ext uri="{FF2B5EF4-FFF2-40B4-BE49-F238E27FC236}">
                <a16:creationId xmlns:a16="http://schemas.microsoft.com/office/drawing/2014/main" id="{36E0B038-B890-429D-948C-C93195F69A67}"/>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02</a:t>
            </a:r>
          </a:p>
        </p:txBody>
      </p:sp>
      <p:sp>
        <p:nvSpPr>
          <p:cNvPr id="3" name="Rectángulo 2">
            <a:extLst>
              <a:ext uri="{FF2B5EF4-FFF2-40B4-BE49-F238E27FC236}">
                <a16:creationId xmlns:a16="http://schemas.microsoft.com/office/drawing/2014/main" id="{E7F19ADC-D41A-41F6-9864-918B45FA3B88}"/>
              </a:ext>
            </a:extLst>
          </p:cNvPr>
          <p:cNvSpPr>
            <a:spLocks noGrp="1"/>
          </p:cNvSpPr>
          <p:nvPr/>
        </p:nvSpPr>
        <p:spPr>
          <a:xfrm>
            <a:off x="609600" y="6257925"/>
            <a:ext cx="10191750" cy="381000"/>
          </a:xfrm>
          <a:prstGeom prst="rect">
            <a:avLst/>
          </a:prstGeom>
          <a:noFill/>
          <a:ln w="0">
            <a:noFill/>
          </a:ln>
        </p:spPr>
        <p:txBody>
          <a:bodyPr>
            <a:noAutofit/>
          </a:bodyPr>
          <a:lstStyle/>
          <a:p>
            <a:pPr>
              <a:defRPr sz="1200" b="0">
                <a:solidFill>
                  <a:srgbClr val="B4CECA"/>
                </a:solidFill>
                <a:latin typeface="Arial"/>
                <a:ea typeface="Arial"/>
                <a:cs typeface="Arial"/>
              </a:defRPr>
            </a:pPr>
            <a:r>
              <a:rPr sz="1200" b="0">
                <a:solidFill>
                  <a:srgbClr val="B4CECA"/>
                </a:solidFill>
                <a:latin typeface="Arial"/>
                <a:ea typeface="Arial"/>
                <a:cs typeface="Arial"/>
              </a:rPr>
              <a:t>[1] OMS. Parkinson disease. 2023.</a:t>
            </a:r>
          </a:p>
        </p:txBody>
      </p:sp>
      <p:pic>
        <p:nvPicPr>
          <p:cNvPr id="13" name="Imagen 12"/>
          <p:cNvPicPr>
            <a:picLocks noChangeAspect="1"/>
          </p:cNvPicPr>
          <p:nvPr/>
        </p:nvPicPr>
        <p:blipFill>
          <a:blip r:embed="rId3"/>
          <a:srcRect t="11305" b="11305"/>
          <a:stretch>
            <a:fillRect/>
          </a:stretch>
        </p:blipFill>
        <p:spPr>
          <a:xfrm>
            <a:off x="609600" y="1600200"/>
            <a:ext cx="4333875" cy="4191000"/>
          </a:xfrm>
          <a:prstGeom prst="rect">
            <a:avLst/>
          </a:prstGeom>
        </p:spPr>
      </p:pic>
      <p:sp>
        <p:nvSpPr>
          <p:cNvPr id="6" name="Rectángulo 5">
            <a:extLst>
              <a:ext uri="{FF2B5EF4-FFF2-40B4-BE49-F238E27FC236}">
                <a16:creationId xmlns:a16="http://schemas.microsoft.com/office/drawing/2014/main" id="{44D3253B-052F-46C0-8FB7-35EF66A00285}"/>
              </a:ext>
            </a:extLst>
          </p:cNvPr>
          <p:cNvSpPr>
            <a:spLocks noGrp="1"/>
          </p:cNvSpPr>
          <p:nvPr/>
        </p:nvSpPr>
        <p:spPr>
          <a:xfrm>
            <a:off x="5505450" y="1676400"/>
            <a:ext cx="6048375" cy="571500"/>
          </a:xfrm>
          <a:prstGeom prst="rect">
            <a:avLst/>
          </a:prstGeom>
          <a:noFill/>
          <a:ln w="0">
            <a:noFill/>
          </a:ln>
        </p:spPr>
        <p:txBody>
          <a:bodyPr>
            <a:noAutofit/>
          </a:bodyPr>
          <a:lstStyle/>
          <a:p>
            <a:pPr>
              <a:defRPr sz="2475" b="1">
                <a:solidFill>
                  <a:srgbClr val="67E5BA"/>
                </a:solidFill>
                <a:latin typeface="Arial"/>
                <a:ea typeface="Arial"/>
                <a:cs typeface="Arial"/>
              </a:defRPr>
            </a:pPr>
            <a:r>
              <a:rPr sz="2475" b="1">
                <a:solidFill>
                  <a:srgbClr val="67E5BA"/>
                </a:solidFill>
                <a:latin typeface="Arial"/>
                <a:ea typeface="Arial"/>
                <a:cs typeface="Arial"/>
              </a:rPr>
              <a:t>Una necesidad cotidiana</a:t>
            </a:r>
          </a:p>
        </p:txBody>
      </p:sp>
      <p:sp>
        <p:nvSpPr>
          <p:cNvPr id="7" name="Rectángulo 6">
            <a:extLst>
              <a:ext uri="{FF2B5EF4-FFF2-40B4-BE49-F238E27FC236}">
                <a16:creationId xmlns:a16="http://schemas.microsoft.com/office/drawing/2014/main" id="{DACD527C-5CAF-423B-A2EC-090D9788BD54}"/>
              </a:ext>
            </a:extLst>
          </p:cNvPr>
          <p:cNvSpPr>
            <a:spLocks noGrp="1"/>
          </p:cNvSpPr>
          <p:nvPr/>
        </p:nvSpPr>
        <p:spPr>
          <a:xfrm>
            <a:off x="5505450" y="2390775"/>
            <a:ext cx="5762625" cy="1390650"/>
          </a:xfrm>
          <a:prstGeom prst="rect">
            <a:avLst/>
          </a:prstGeom>
          <a:noFill/>
          <a:ln w="0">
            <a:noFill/>
          </a:ln>
        </p:spPr>
        <p:txBody>
          <a:bodyPr>
            <a:noAutofit/>
          </a:bodyPr>
          <a:lstStyle/>
          <a:p>
            <a:pPr>
              <a:defRPr sz="2325" b="0">
                <a:solidFill>
                  <a:srgbClr val="F3F8F7"/>
                </a:solidFill>
                <a:latin typeface="Arial"/>
                <a:ea typeface="Arial"/>
                <a:cs typeface="Arial"/>
              </a:defRPr>
            </a:pPr>
            <a:r>
              <a:rPr sz="2325" b="0">
                <a:solidFill>
                  <a:srgbClr val="F3F8F7"/>
                </a:solidFill>
                <a:latin typeface="Arial"/>
                <a:ea typeface="Arial"/>
                <a:cs typeface="Arial"/>
              </a:rPr>
              <a:t>Los síntomas motores pueden dificultar las actividades diarias y aumentar la necesidad de apoyo.</a:t>
            </a:r>
          </a:p>
        </p:txBody>
      </p:sp>
      <p:sp>
        <p:nvSpPr>
          <p:cNvPr id="8" name="Rectángulo 7">
            <a:extLst>
              <a:ext uri="{FF2B5EF4-FFF2-40B4-BE49-F238E27FC236}">
                <a16:creationId xmlns:a16="http://schemas.microsoft.com/office/drawing/2014/main" id="{1935E146-C256-4AA9-9CC3-AD6B42199506}"/>
              </a:ext>
            </a:extLst>
          </p:cNvPr>
          <p:cNvSpPr>
            <a:spLocks noGrp="1"/>
          </p:cNvSpPr>
          <p:nvPr/>
        </p:nvSpPr>
        <p:spPr>
          <a:xfrm>
            <a:off x="5505450" y="4105275"/>
            <a:ext cx="5905500" cy="476250"/>
          </a:xfrm>
          <a:prstGeom prst="rect">
            <a:avLst/>
          </a:prstGeom>
          <a:noFill/>
          <a:ln w="0">
            <a:noFill/>
          </a:ln>
        </p:spPr>
        <p:txBody>
          <a:bodyPr>
            <a:noAutofit/>
          </a:bodyPr>
          <a:lstStyle/>
          <a:p>
            <a:pPr>
              <a:defRPr sz="2250" b="1">
                <a:solidFill>
                  <a:srgbClr val="67E5BA"/>
                </a:solidFill>
                <a:latin typeface="Arial"/>
                <a:ea typeface="Arial"/>
                <a:cs typeface="Arial"/>
              </a:defRPr>
            </a:pPr>
            <a:r>
              <a:rPr sz="2250" b="1">
                <a:solidFill>
                  <a:srgbClr val="67E5BA"/>
                </a:solidFill>
                <a:latin typeface="Arial"/>
                <a:ea typeface="Arial"/>
                <a:cs typeface="Arial"/>
              </a:rPr>
              <a:t>Nuestra pregunta de diseño</a:t>
            </a:r>
          </a:p>
        </p:txBody>
      </p:sp>
      <p:sp>
        <p:nvSpPr>
          <p:cNvPr id="9" name="Rectángulo 8">
            <a:extLst>
              <a:ext uri="{FF2B5EF4-FFF2-40B4-BE49-F238E27FC236}">
                <a16:creationId xmlns:a16="http://schemas.microsoft.com/office/drawing/2014/main" id="{19A325A3-34FB-4BAB-AA8A-A16BE77261FB}"/>
              </a:ext>
            </a:extLst>
          </p:cNvPr>
          <p:cNvSpPr>
            <a:spLocks noGrp="1"/>
          </p:cNvSpPr>
          <p:nvPr/>
        </p:nvSpPr>
        <p:spPr>
          <a:xfrm>
            <a:off x="5505450" y="4733925"/>
            <a:ext cx="5810250" cy="1095375"/>
          </a:xfrm>
          <a:prstGeom prst="rect">
            <a:avLst/>
          </a:prstGeom>
          <a:noFill/>
          <a:ln w="0">
            <a:noFill/>
          </a:ln>
        </p:spPr>
        <p:txBody>
          <a:bodyPr>
            <a:noAutofit/>
          </a:bodyPr>
          <a:lstStyle/>
          <a:p>
            <a:pPr>
              <a:defRPr sz="2400" b="0">
                <a:solidFill>
                  <a:srgbClr val="F3F8F7"/>
                </a:solidFill>
                <a:latin typeface="Arial"/>
                <a:ea typeface="Arial"/>
                <a:cs typeface="Arial"/>
              </a:defRPr>
            </a:pPr>
            <a:r>
              <a:rPr sz="2400" b="0">
                <a:solidFill>
                  <a:srgbClr val="F3F8F7"/>
                </a:solidFill>
                <a:latin typeface="Arial"/>
                <a:ea typeface="Arial"/>
                <a:cs typeface="Arial"/>
              </a:rPr>
              <a:t>¿Cómo registrar el movimiento de la muñeca de forma portátil y repetible?</a:t>
            </a:r>
          </a:p>
        </p:txBody>
      </p:sp>
    </p:spTree>
    <p:extLst>
      <p:ext uri="{BB962C8B-B14F-4D97-AF65-F5344CB8AC3E}">
        <p14:creationId xmlns:p14="http://schemas.microsoft.com/office/powerpoint/2010/main" val="1371218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A6D728F-8963-4483-A942-A262D29A2FF5}"/>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Dimensión mundial de la problemática</a:t>
            </a:r>
          </a:p>
        </p:txBody>
      </p:sp>
      <p:sp>
        <p:nvSpPr>
          <p:cNvPr id="2" name="Rectángulo 1">
            <a:extLst>
              <a:ext uri="{FF2B5EF4-FFF2-40B4-BE49-F238E27FC236}">
                <a16:creationId xmlns:a16="http://schemas.microsoft.com/office/drawing/2014/main" id="{90500CA6-2709-4B41-85A5-504D0145D084}"/>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03</a:t>
            </a:r>
          </a:p>
        </p:txBody>
      </p:sp>
      <p:graphicFrame>
        <p:nvGraphicFramePr>
          <p:cNvPr id="9" name="Tabla 8"/>
          <p:cNvGraphicFramePr/>
          <p:nvPr/>
        </p:nvGraphicFramePr>
        <p:xfrm>
          <a:off x="609600" y="1733550"/>
          <a:ext cx="10972800" cy="3276599"/>
        </p:xfrm>
        <a:graphic>
          <a:graphicData uri="http://schemas.openxmlformats.org/drawingml/2006/table">
            <a:tbl>
              <a:tblPr/>
              <a:tblGrid>
                <a:gridCol w="319087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3971925">
                  <a:extLst>
                    <a:ext uri="{9D8B030D-6E8A-4147-A177-3AD203B41FA5}">
                      <a16:colId xmlns:a16="http://schemas.microsoft.com/office/drawing/2014/main" val="20003"/>
                    </a:ext>
                  </a:extLst>
                </a:gridCol>
              </a:tblGrid>
              <a:tr h="523875">
                <a:tc>
                  <a:txBody>
                    <a:bodyPr/>
                    <a:lstStyle/>
                    <a:p>
                      <a:r>
                        <a:rPr sz="1725" b="1">
                          <a:solidFill>
                            <a:srgbClr val="67E5BA"/>
                          </a:solidFill>
                          <a:latin typeface="Arial"/>
                          <a:ea typeface="Arial"/>
                          <a:cs typeface="Arial"/>
                        </a:rPr>
                        <a:t>Indicador</a:t>
                      </a:r>
                    </a:p>
                  </a:txBody>
                  <a:tcPr>
                    <a:solidFill>
                      <a:srgbClr val="17474C"/>
                    </a:solidFill>
                  </a:tcPr>
                </a:tc>
                <a:tc>
                  <a:txBody>
                    <a:bodyPr/>
                    <a:lstStyle/>
                    <a:p>
                      <a:r>
                        <a:rPr sz="1725" b="1">
                          <a:solidFill>
                            <a:srgbClr val="67E5BA"/>
                          </a:solidFill>
                          <a:latin typeface="Arial"/>
                          <a:ea typeface="Arial"/>
                          <a:cs typeface="Arial"/>
                        </a:rPr>
                        <a:t>Valor</a:t>
                      </a:r>
                    </a:p>
                  </a:txBody>
                  <a:tcPr>
                    <a:solidFill>
                      <a:srgbClr val="17474C"/>
                    </a:solidFill>
                  </a:tcPr>
                </a:tc>
                <a:tc>
                  <a:txBody>
                    <a:bodyPr/>
                    <a:lstStyle/>
                    <a:p>
                      <a:r>
                        <a:rPr sz="1725" b="1">
                          <a:solidFill>
                            <a:srgbClr val="67E5BA"/>
                          </a:solidFill>
                          <a:latin typeface="Arial"/>
                          <a:ea typeface="Arial"/>
                          <a:cs typeface="Arial"/>
                        </a:rPr>
                        <a:t>Año del dato</a:t>
                      </a:r>
                    </a:p>
                  </a:txBody>
                  <a:tcPr>
                    <a:solidFill>
                      <a:srgbClr val="17474C"/>
                    </a:solidFill>
                  </a:tcPr>
                </a:tc>
                <a:tc>
                  <a:txBody>
                    <a:bodyPr/>
                    <a:lstStyle/>
                    <a:p>
                      <a:r>
                        <a:rPr sz="1725" b="1">
                          <a:solidFill>
                            <a:srgbClr val="67E5BA"/>
                          </a:solidFill>
                          <a:latin typeface="Arial"/>
                          <a:ea typeface="Arial"/>
                          <a:cs typeface="Arial"/>
                        </a:rPr>
                        <a:t>Interpretación</a:t>
                      </a:r>
                    </a:p>
                  </a:txBody>
                  <a:tcPr>
                    <a:solidFill>
                      <a:srgbClr val="17474C"/>
                    </a:solidFill>
                  </a:tcPr>
                </a:tc>
                <a:extLst>
                  <a:ext uri="{0D108BD9-81ED-4DB2-BD59-A6C34878D82A}">
                    <a16:rowId xmlns:a16="http://schemas.microsoft.com/office/drawing/2014/main" val="10000"/>
                  </a:ext>
                </a:extLst>
              </a:tr>
              <a:tr h="688181">
                <a:tc>
                  <a:txBody>
                    <a:bodyPr/>
                    <a:lstStyle/>
                    <a:p>
                      <a:r>
                        <a:rPr sz="1725" b="0">
                          <a:solidFill>
                            <a:srgbClr val="F3F8F7"/>
                          </a:solidFill>
                          <a:latin typeface="Arial"/>
                          <a:ea typeface="Arial"/>
                          <a:cs typeface="Arial"/>
                        </a:rPr>
                        <a:t>Afecciones neurológicas</a:t>
                      </a:r>
                    </a:p>
                  </a:txBody>
                  <a:tcPr>
                    <a:solidFill>
                      <a:srgbClr val="09292E"/>
                    </a:solidFill>
                  </a:tcPr>
                </a:tc>
                <a:tc>
                  <a:txBody>
                    <a:bodyPr/>
                    <a:lstStyle/>
                    <a:p>
                      <a:r>
                        <a:rPr sz="1725" b="0">
                          <a:solidFill>
                            <a:srgbClr val="F3F8F7"/>
                          </a:solidFill>
                          <a:latin typeface="Arial"/>
                          <a:ea typeface="Arial"/>
                          <a:cs typeface="Arial"/>
                        </a:rPr>
                        <a:t>&gt;3 000 millones</a:t>
                      </a:r>
                    </a:p>
                  </a:txBody>
                  <a:tcPr>
                    <a:solidFill>
                      <a:srgbClr val="09292E"/>
                    </a:solidFill>
                  </a:tcPr>
                </a:tc>
                <a:tc>
                  <a:txBody>
                    <a:bodyPr/>
                    <a:lstStyle/>
                    <a:p>
                      <a:r>
                        <a:rPr sz="1725" b="0">
                          <a:solidFill>
                            <a:srgbClr val="F3F8F7"/>
                          </a:solidFill>
                          <a:latin typeface="Arial"/>
                          <a:ea typeface="Arial"/>
                          <a:cs typeface="Arial"/>
                        </a:rPr>
                        <a:t>2021</a:t>
                      </a:r>
                    </a:p>
                  </a:txBody>
                  <a:tcPr>
                    <a:solidFill>
                      <a:srgbClr val="09292E"/>
                    </a:solidFill>
                  </a:tcPr>
                </a:tc>
                <a:tc>
                  <a:txBody>
                    <a:bodyPr/>
                    <a:lstStyle/>
                    <a:p>
                      <a:r>
                        <a:rPr sz="1725" b="0">
                          <a:solidFill>
                            <a:srgbClr val="F3F8F7"/>
                          </a:solidFill>
                          <a:latin typeface="Arial"/>
                          <a:ea typeface="Arial"/>
                          <a:cs typeface="Arial"/>
                        </a:rPr>
                        <a:t>Personas, todas las afecciones</a:t>
                      </a:r>
                    </a:p>
                  </a:txBody>
                  <a:tcPr>
                    <a:solidFill>
                      <a:srgbClr val="09292E"/>
                    </a:solidFill>
                  </a:tcPr>
                </a:tc>
                <a:extLst>
                  <a:ext uri="{0D108BD9-81ED-4DB2-BD59-A6C34878D82A}">
                    <a16:rowId xmlns:a16="http://schemas.microsoft.com/office/drawing/2014/main" val="10001"/>
                  </a:ext>
                </a:extLst>
              </a:tr>
              <a:tr h="688181">
                <a:tc>
                  <a:txBody>
                    <a:bodyPr/>
                    <a:lstStyle/>
                    <a:p>
                      <a:r>
                        <a:rPr sz="1725" b="0">
                          <a:solidFill>
                            <a:srgbClr val="F3F8F7"/>
                          </a:solidFill>
                          <a:latin typeface="Arial"/>
                          <a:ea typeface="Arial"/>
                          <a:cs typeface="Arial"/>
                        </a:rPr>
                        <a:t>Personas con Parkinson</a:t>
                      </a:r>
                    </a:p>
                  </a:txBody>
                  <a:tcPr>
                    <a:solidFill>
                      <a:srgbClr val="09292E"/>
                    </a:solidFill>
                  </a:tcPr>
                </a:tc>
                <a:tc>
                  <a:txBody>
                    <a:bodyPr/>
                    <a:lstStyle/>
                    <a:p>
                      <a:r>
                        <a:rPr sz="1725" b="0">
                          <a:solidFill>
                            <a:srgbClr val="F3F8F7"/>
                          </a:solidFill>
                          <a:latin typeface="Arial"/>
                          <a:ea typeface="Arial"/>
                          <a:cs typeface="Arial"/>
                        </a:rPr>
                        <a:t>&gt;8,5 millones</a:t>
                      </a:r>
                    </a:p>
                  </a:txBody>
                  <a:tcPr>
                    <a:solidFill>
                      <a:srgbClr val="09292E"/>
                    </a:solidFill>
                  </a:tcPr>
                </a:tc>
                <a:tc>
                  <a:txBody>
                    <a:bodyPr/>
                    <a:lstStyle/>
                    <a:p>
                      <a:r>
                        <a:rPr sz="1725" b="0">
                          <a:solidFill>
                            <a:srgbClr val="F3F8F7"/>
                          </a:solidFill>
                          <a:latin typeface="Arial"/>
                          <a:ea typeface="Arial"/>
                          <a:cs typeface="Arial"/>
                        </a:rPr>
                        <a:t>2019</a:t>
                      </a:r>
                    </a:p>
                  </a:txBody>
                  <a:tcPr>
                    <a:solidFill>
                      <a:srgbClr val="09292E"/>
                    </a:solidFill>
                  </a:tcPr>
                </a:tc>
                <a:tc>
                  <a:txBody>
                    <a:bodyPr/>
                    <a:lstStyle/>
                    <a:p>
                      <a:r>
                        <a:rPr sz="1725" b="0">
                          <a:solidFill>
                            <a:srgbClr val="F3F8F7"/>
                          </a:solidFill>
                          <a:latin typeface="Arial"/>
                          <a:ea typeface="Arial"/>
                          <a:cs typeface="Arial"/>
                        </a:rPr>
                        <a:t>Estimación mundial</a:t>
                      </a:r>
                    </a:p>
                  </a:txBody>
                  <a:tcPr>
                    <a:solidFill>
                      <a:srgbClr val="09292E"/>
                    </a:solidFill>
                  </a:tcPr>
                </a:tc>
                <a:extLst>
                  <a:ext uri="{0D108BD9-81ED-4DB2-BD59-A6C34878D82A}">
                    <a16:rowId xmlns:a16="http://schemas.microsoft.com/office/drawing/2014/main" val="10002"/>
                  </a:ext>
                </a:extLst>
              </a:tr>
              <a:tr h="688181">
                <a:tc>
                  <a:txBody>
                    <a:bodyPr/>
                    <a:lstStyle/>
                    <a:p>
                      <a:r>
                        <a:rPr sz="1725" b="0">
                          <a:solidFill>
                            <a:srgbClr val="F3F8F7"/>
                          </a:solidFill>
                          <a:latin typeface="Arial"/>
                          <a:ea typeface="Arial"/>
                          <a:cs typeface="Arial"/>
                        </a:rPr>
                        <a:t>AVAD por Parkinson</a:t>
                      </a:r>
                    </a:p>
                  </a:txBody>
                  <a:tcPr>
                    <a:solidFill>
                      <a:srgbClr val="09292E"/>
                    </a:solidFill>
                  </a:tcPr>
                </a:tc>
                <a:tc>
                  <a:txBody>
                    <a:bodyPr/>
                    <a:lstStyle/>
                    <a:p>
                      <a:r>
                        <a:rPr sz="1725" b="0">
                          <a:solidFill>
                            <a:srgbClr val="F3F8F7"/>
                          </a:solidFill>
                          <a:latin typeface="Arial"/>
                          <a:ea typeface="Arial"/>
                          <a:cs typeface="Arial"/>
                        </a:rPr>
                        <a:t>5,8 millones</a:t>
                      </a:r>
                    </a:p>
                  </a:txBody>
                  <a:tcPr>
                    <a:solidFill>
                      <a:srgbClr val="09292E"/>
                    </a:solidFill>
                  </a:tcPr>
                </a:tc>
                <a:tc>
                  <a:txBody>
                    <a:bodyPr/>
                    <a:lstStyle/>
                    <a:p>
                      <a:r>
                        <a:rPr sz="1725" b="0">
                          <a:solidFill>
                            <a:srgbClr val="F3F8F7"/>
                          </a:solidFill>
                          <a:latin typeface="Arial"/>
                          <a:ea typeface="Arial"/>
                          <a:cs typeface="Arial"/>
                        </a:rPr>
                        <a:t>2019</a:t>
                      </a:r>
                    </a:p>
                  </a:txBody>
                  <a:tcPr>
                    <a:solidFill>
                      <a:srgbClr val="09292E"/>
                    </a:solidFill>
                  </a:tcPr>
                </a:tc>
                <a:tc>
                  <a:txBody>
                    <a:bodyPr/>
                    <a:lstStyle/>
                    <a:p>
                      <a:r>
                        <a:rPr sz="1725" b="0">
                          <a:solidFill>
                            <a:srgbClr val="F3F8F7"/>
                          </a:solidFill>
                          <a:latin typeface="Arial"/>
                          <a:ea typeface="Arial"/>
                          <a:cs typeface="Arial"/>
                        </a:rPr>
                        <a:t>Años de vida saludable perdidos</a:t>
                      </a:r>
                    </a:p>
                  </a:txBody>
                  <a:tcPr>
                    <a:solidFill>
                      <a:srgbClr val="09292E"/>
                    </a:solidFill>
                  </a:tcPr>
                </a:tc>
                <a:extLst>
                  <a:ext uri="{0D108BD9-81ED-4DB2-BD59-A6C34878D82A}">
                    <a16:rowId xmlns:a16="http://schemas.microsoft.com/office/drawing/2014/main" val="10003"/>
                  </a:ext>
                </a:extLst>
              </a:tr>
              <a:tr h="688181">
                <a:tc>
                  <a:txBody>
                    <a:bodyPr/>
                    <a:lstStyle/>
                    <a:p>
                      <a:r>
                        <a:rPr sz="1725" b="0">
                          <a:solidFill>
                            <a:srgbClr val="F3F8F7"/>
                          </a:solidFill>
                          <a:latin typeface="Arial"/>
                          <a:ea typeface="Arial"/>
                          <a:cs typeface="Arial"/>
                        </a:rPr>
                        <a:t>Muertes por Parkinson</a:t>
                      </a:r>
                    </a:p>
                  </a:txBody>
                  <a:tcPr>
                    <a:solidFill>
                      <a:srgbClr val="09292E"/>
                    </a:solidFill>
                  </a:tcPr>
                </a:tc>
                <a:tc>
                  <a:txBody>
                    <a:bodyPr/>
                    <a:lstStyle/>
                    <a:p>
                      <a:r>
                        <a:rPr sz="1725" b="0">
                          <a:solidFill>
                            <a:srgbClr val="F3F8F7"/>
                          </a:solidFill>
                          <a:latin typeface="Arial"/>
                          <a:ea typeface="Arial"/>
                          <a:cs typeface="Arial"/>
                        </a:rPr>
                        <a:t>329 000</a:t>
                      </a:r>
                    </a:p>
                  </a:txBody>
                  <a:tcPr>
                    <a:solidFill>
                      <a:srgbClr val="09292E"/>
                    </a:solidFill>
                  </a:tcPr>
                </a:tc>
                <a:tc>
                  <a:txBody>
                    <a:bodyPr/>
                    <a:lstStyle/>
                    <a:p>
                      <a:r>
                        <a:rPr sz="1725" b="0">
                          <a:solidFill>
                            <a:srgbClr val="F3F8F7"/>
                          </a:solidFill>
                          <a:latin typeface="Arial"/>
                          <a:ea typeface="Arial"/>
                          <a:cs typeface="Arial"/>
                        </a:rPr>
                        <a:t>2019</a:t>
                      </a:r>
                    </a:p>
                  </a:txBody>
                  <a:tcPr>
                    <a:solidFill>
                      <a:srgbClr val="09292E"/>
                    </a:solidFill>
                  </a:tcPr>
                </a:tc>
                <a:tc>
                  <a:txBody>
                    <a:bodyPr/>
                    <a:lstStyle/>
                    <a:p>
                      <a:r>
                        <a:rPr sz="1725" b="0">
                          <a:solidFill>
                            <a:srgbClr val="F3F8F7"/>
                          </a:solidFill>
                          <a:latin typeface="Arial"/>
                          <a:ea typeface="Arial"/>
                          <a:cs typeface="Arial"/>
                        </a:rPr>
                        <a:t>Carga mundial estimada</a:t>
                      </a:r>
                    </a:p>
                  </a:txBody>
                  <a:tcPr>
                    <a:solidFill>
                      <a:srgbClr val="09292E"/>
                    </a:solidFill>
                  </a:tcPr>
                </a:tc>
                <a:extLst>
                  <a:ext uri="{0D108BD9-81ED-4DB2-BD59-A6C34878D82A}">
                    <a16:rowId xmlns:a16="http://schemas.microsoft.com/office/drawing/2014/main" val="10004"/>
                  </a:ext>
                </a:extLst>
              </a:tr>
            </a:tbl>
          </a:graphicData>
        </a:graphic>
      </p:graphicFrame>
      <p:sp>
        <p:nvSpPr>
          <p:cNvPr id="5" name="Rectángulo 4">
            <a:extLst>
              <a:ext uri="{FF2B5EF4-FFF2-40B4-BE49-F238E27FC236}">
                <a16:creationId xmlns:a16="http://schemas.microsoft.com/office/drawing/2014/main" id="{97D46662-2852-4B0D-B828-8B63C9B7D616}"/>
              </a:ext>
            </a:extLst>
          </p:cNvPr>
          <p:cNvSpPr>
            <a:spLocks noGrp="1"/>
          </p:cNvSpPr>
          <p:nvPr/>
        </p:nvSpPr>
        <p:spPr>
          <a:xfrm>
            <a:off x="609600" y="5305425"/>
            <a:ext cx="10668000" cy="762000"/>
          </a:xfrm>
          <a:prstGeom prst="rect">
            <a:avLst/>
          </a:prstGeom>
          <a:noFill/>
          <a:ln w="0">
            <a:noFill/>
          </a:ln>
        </p:spPr>
        <p:txBody>
          <a:bodyPr>
            <a:noAutofit/>
          </a:bodyPr>
          <a:lstStyle/>
          <a:p>
            <a:pPr>
              <a:defRPr sz="2025" b="0">
                <a:solidFill>
                  <a:srgbClr val="67E5BA"/>
                </a:solidFill>
                <a:latin typeface="Arial"/>
                <a:ea typeface="Arial"/>
                <a:cs typeface="Arial"/>
              </a:defRPr>
            </a:pPr>
            <a:r>
              <a:rPr sz="2025" b="0">
                <a:solidFill>
                  <a:srgbClr val="67E5BA"/>
                </a:solidFill>
                <a:latin typeface="Arial"/>
                <a:ea typeface="Arial"/>
                <a:cs typeface="Arial"/>
              </a:rPr>
              <a:t>Parkinson forma parte de una carga neurológica amplia. Estas cifras justifican investigar, pero no estiman el número de usuarios de la pulsera.</a:t>
            </a:r>
          </a:p>
        </p:txBody>
      </p:sp>
    </p:spTree>
    <p:extLst>
      <p:ext uri="{BB962C8B-B14F-4D97-AF65-F5344CB8AC3E}">
        <p14:creationId xmlns:p14="http://schemas.microsoft.com/office/powerpoint/2010/main" val="1631928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F3B00A60-341A-43CD-8CBE-6E1EABA6251D}"/>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Evidencia en el norte del Perú</a:t>
            </a:r>
          </a:p>
        </p:txBody>
      </p:sp>
      <p:sp>
        <p:nvSpPr>
          <p:cNvPr id="2" name="Rectángulo 1">
            <a:extLst>
              <a:ext uri="{FF2B5EF4-FFF2-40B4-BE49-F238E27FC236}">
                <a16:creationId xmlns:a16="http://schemas.microsoft.com/office/drawing/2014/main" id="{17925784-38CE-4455-B251-A96C908E7801}"/>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04</a:t>
            </a:r>
          </a:p>
        </p:txBody>
      </p:sp>
      <p:sp>
        <p:nvSpPr>
          <p:cNvPr id="4" name="Rectángulo 3">
            <a:extLst>
              <a:ext uri="{FF2B5EF4-FFF2-40B4-BE49-F238E27FC236}">
                <a16:creationId xmlns:a16="http://schemas.microsoft.com/office/drawing/2014/main" id="{D5A2DAA0-9BDA-4CA7-9540-2E72B4D22E52}"/>
              </a:ext>
            </a:extLst>
          </p:cNvPr>
          <p:cNvSpPr>
            <a:spLocks noGrp="1"/>
          </p:cNvSpPr>
          <p:nvPr/>
        </p:nvSpPr>
        <p:spPr>
          <a:xfrm>
            <a:off x="619125" y="1495425"/>
            <a:ext cx="4191000" cy="1000125"/>
          </a:xfrm>
          <a:prstGeom prst="rect">
            <a:avLst/>
          </a:prstGeom>
          <a:noFill/>
          <a:ln w="0">
            <a:noFill/>
          </a:ln>
        </p:spPr>
        <p:txBody>
          <a:bodyPr>
            <a:noAutofit/>
          </a:bodyPr>
          <a:lstStyle/>
          <a:p>
            <a:pPr>
              <a:defRPr sz="6300" b="1">
                <a:solidFill>
                  <a:srgbClr val="67E5BA"/>
                </a:solidFill>
                <a:latin typeface="Arial"/>
                <a:ea typeface="Arial"/>
                <a:cs typeface="Arial"/>
              </a:defRPr>
            </a:pPr>
            <a:r>
              <a:rPr sz="6300" b="1">
                <a:solidFill>
                  <a:srgbClr val="67E5BA"/>
                </a:solidFill>
                <a:latin typeface="Arial"/>
                <a:ea typeface="Arial"/>
                <a:cs typeface="Arial"/>
              </a:rPr>
              <a:t>1,6 %</a:t>
            </a:r>
          </a:p>
        </p:txBody>
      </p:sp>
      <p:sp>
        <p:nvSpPr>
          <p:cNvPr id="5" name="Rectángulo 4">
            <a:extLst>
              <a:ext uri="{FF2B5EF4-FFF2-40B4-BE49-F238E27FC236}">
                <a16:creationId xmlns:a16="http://schemas.microsoft.com/office/drawing/2014/main" id="{25CC0351-A549-4FAF-AAFA-8B1ED49CB6E9}"/>
              </a:ext>
            </a:extLst>
          </p:cNvPr>
          <p:cNvSpPr>
            <a:spLocks noGrp="1"/>
          </p:cNvSpPr>
          <p:nvPr/>
        </p:nvSpPr>
        <p:spPr>
          <a:xfrm>
            <a:off x="4714875" y="1733550"/>
            <a:ext cx="6715125" cy="790575"/>
          </a:xfrm>
          <a:prstGeom prst="rect">
            <a:avLst/>
          </a:prstGeom>
          <a:noFill/>
          <a:ln w="0">
            <a:noFill/>
          </a:ln>
        </p:spPr>
        <p:txBody>
          <a:bodyPr>
            <a:noAutofit/>
          </a:bodyPr>
          <a:lstStyle/>
          <a:p>
            <a:pPr>
              <a:defRPr sz="2175" b="0">
                <a:solidFill>
                  <a:srgbClr val="F3F8F7"/>
                </a:solidFill>
                <a:latin typeface="Arial"/>
                <a:ea typeface="Arial"/>
                <a:cs typeface="Arial"/>
              </a:defRPr>
            </a:pPr>
            <a:r>
              <a:rPr sz="2175" b="0">
                <a:solidFill>
                  <a:srgbClr val="F3F8F7"/>
                </a:solidFill>
                <a:latin typeface="Arial"/>
                <a:ea typeface="Arial"/>
                <a:cs typeface="Arial"/>
              </a:rPr>
              <a:t>Síntomas compatibles con Parkinson</a:t>
            </a:r>
          </a:p>
          <a:p>
            <a:pPr>
              <a:defRPr sz="2175" b="0">
                <a:solidFill>
                  <a:srgbClr val="F3F8F7"/>
                </a:solidFill>
                <a:latin typeface="Arial"/>
                <a:ea typeface="Arial"/>
                <a:cs typeface="Arial"/>
              </a:defRPr>
            </a:pPr>
            <a:r>
              <a:rPr sz="2175" b="0">
                <a:solidFill>
                  <a:srgbClr val="F3F8F7"/>
                </a:solidFill>
                <a:latin typeface="Arial"/>
                <a:ea typeface="Arial"/>
                <a:cs typeface="Arial"/>
              </a:rPr>
              <a:t>IC95 %: 1,0–2,4 %</a:t>
            </a:r>
          </a:p>
        </p:txBody>
      </p:sp>
      <p:graphicFrame>
        <p:nvGraphicFramePr>
          <p:cNvPr id="13" name="Tabla 12"/>
          <p:cNvGraphicFramePr/>
          <p:nvPr/>
        </p:nvGraphicFramePr>
        <p:xfrm>
          <a:off x="609600" y="2838450"/>
          <a:ext cx="10972800" cy="2552699"/>
        </p:xfrm>
        <a:graphic>
          <a:graphicData uri="http://schemas.openxmlformats.org/drawingml/2006/table">
            <a:tbl>
              <a:tblPr/>
              <a:tblGrid>
                <a:gridCol w="3048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5829300">
                  <a:extLst>
                    <a:ext uri="{9D8B030D-6E8A-4147-A177-3AD203B41FA5}">
                      <a16:colId xmlns:a16="http://schemas.microsoft.com/office/drawing/2014/main" val="20002"/>
                    </a:ext>
                  </a:extLst>
                </a:gridCol>
              </a:tblGrid>
              <a:tr h="523875">
                <a:tc>
                  <a:txBody>
                    <a:bodyPr/>
                    <a:lstStyle/>
                    <a:p>
                      <a:r>
                        <a:rPr sz="1725" b="1">
                          <a:solidFill>
                            <a:srgbClr val="67E5BA"/>
                          </a:solidFill>
                          <a:latin typeface="Arial"/>
                          <a:ea typeface="Arial"/>
                          <a:cs typeface="Arial"/>
                        </a:rPr>
                        <a:t>Característica</a:t>
                      </a:r>
                    </a:p>
                  </a:txBody>
                  <a:tcPr>
                    <a:solidFill>
                      <a:srgbClr val="17474C"/>
                    </a:solidFill>
                  </a:tcPr>
                </a:tc>
                <a:tc>
                  <a:txBody>
                    <a:bodyPr/>
                    <a:lstStyle/>
                    <a:p>
                      <a:r>
                        <a:rPr sz="1725" b="1">
                          <a:solidFill>
                            <a:srgbClr val="67E5BA"/>
                          </a:solidFill>
                          <a:latin typeface="Arial"/>
                          <a:ea typeface="Arial"/>
                          <a:cs typeface="Arial"/>
                        </a:rPr>
                        <a:t>Valor</a:t>
                      </a:r>
                    </a:p>
                  </a:txBody>
                  <a:tcPr>
                    <a:solidFill>
                      <a:srgbClr val="17474C"/>
                    </a:solidFill>
                  </a:tcPr>
                </a:tc>
                <a:tc>
                  <a:txBody>
                    <a:bodyPr/>
                    <a:lstStyle/>
                    <a:p>
                      <a:r>
                        <a:rPr sz="1725" b="1">
                          <a:solidFill>
                            <a:srgbClr val="67E5BA"/>
                          </a:solidFill>
                          <a:latin typeface="Arial"/>
                          <a:ea typeface="Arial"/>
                          <a:cs typeface="Arial"/>
                        </a:rPr>
                        <a:t>Nota metodológica</a:t>
                      </a:r>
                    </a:p>
                  </a:txBody>
                  <a:tcPr>
                    <a:solidFill>
                      <a:srgbClr val="17474C"/>
                    </a:solidFill>
                  </a:tcPr>
                </a:tc>
                <a:extLst>
                  <a:ext uri="{0D108BD9-81ED-4DB2-BD59-A6C34878D82A}">
                    <a16:rowId xmlns:a16="http://schemas.microsoft.com/office/drawing/2014/main" val="10000"/>
                  </a:ext>
                </a:extLst>
              </a:tr>
              <a:tr h="507206">
                <a:tc>
                  <a:txBody>
                    <a:bodyPr/>
                    <a:lstStyle/>
                    <a:p>
                      <a:r>
                        <a:rPr sz="1725" b="0">
                          <a:solidFill>
                            <a:srgbClr val="F3F8F7"/>
                          </a:solidFill>
                          <a:latin typeface="Arial"/>
                          <a:ea typeface="Arial"/>
                          <a:cs typeface="Arial"/>
                        </a:rPr>
                        <a:t>Participantes</a:t>
                      </a:r>
                    </a:p>
                  </a:txBody>
                  <a:tcPr>
                    <a:solidFill>
                      <a:srgbClr val="09292E"/>
                    </a:solidFill>
                  </a:tcPr>
                </a:tc>
                <a:tc>
                  <a:txBody>
                    <a:bodyPr/>
                    <a:lstStyle/>
                    <a:p>
                      <a:r>
                        <a:rPr sz="1725" b="0">
                          <a:solidFill>
                            <a:srgbClr val="F3F8F7"/>
                          </a:solidFill>
                          <a:latin typeface="Arial"/>
                          <a:ea typeface="Arial"/>
                          <a:cs typeface="Arial"/>
                        </a:rPr>
                        <a:t>1 609</a:t>
                      </a:r>
                    </a:p>
                  </a:txBody>
                  <a:tcPr>
                    <a:solidFill>
                      <a:srgbClr val="09292E"/>
                    </a:solidFill>
                  </a:tcPr>
                </a:tc>
                <a:tc>
                  <a:txBody>
                    <a:bodyPr/>
                    <a:lstStyle/>
                    <a:p>
                      <a:r>
                        <a:rPr sz="1725" b="0">
                          <a:solidFill>
                            <a:srgbClr val="F3F8F7"/>
                          </a:solidFill>
                          <a:latin typeface="Arial"/>
                          <a:ea typeface="Arial"/>
                          <a:cs typeface="Arial"/>
                        </a:rPr>
                        <a:t>Muestra poblacional del norte del Perú</a:t>
                      </a:r>
                    </a:p>
                  </a:txBody>
                  <a:tcPr>
                    <a:solidFill>
                      <a:srgbClr val="09292E"/>
                    </a:solidFill>
                  </a:tcPr>
                </a:tc>
                <a:extLst>
                  <a:ext uri="{0D108BD9-81ED-4DB2-BD59-A6C34878D82A}">
                    <a16:rowId xmlns:a16="http://schemas.microsoft.com/office/drawing/2014/main" val="10001"/>
                  </a:ext>
                </a:extLst>
              </a:tr>
              <a:tr h="507206">
                <a:tc>
                  <a:txBody>
                    <a:bodyPr/>
                    <a:lstStyle/>
                    <a:p>
                      <a:r>
                        <a:rPr sz="1725" b="0">
                          <a:solidFill>
                            <a:srgbClr val="F3F8F7"/>
                          </a:solidFill>
                          <a:latin typeface="Arial"/>
                          <a:ea typeface="Arial"/>
                          <a:cs typeface="Arial"/>
                        </a:rPr>
                        <a:t>Edad media</a:t>
                      </a:r>
                    </a:p>
                  </a:txBody>
                  <a:tcPr>
                    <a:solidFill>
                      <a:srgbClr val="09292E"/>
                    </a:solidFill>
                  </a:tcPr>
                </a:tc>
                <a:tc>
                  <a:txBody>
                    <a:bodyPr/>
                    <a:lstStyle/>
                    <a:p>
                      <a:r>
                        <a:rPr sz="1725" b="0">
                          <a:solidFill>
                            <a:srgbClr val="F3F8F7"/>
                          </a:solidFill>
                          <a:latin typeface="Arial"/>
                          <a:ea typeface="Arial"/>
                          <a:cs typeface="Arial"/>
                        </a:rPr>
                        <a:t>48,2 años</a:t>
                      </a:r>
                    </a:p>
                  </a:txBody>
                  <a:tcPr>
                    <a:solidFill>
                      <a:srgbClr val="09292E"/>
                    </a:solidFill>
                  </a:tcPr>
                </a:tc>
                <a:tc>
                  <a:txBody>
                    <a:bodyPr/>
                    <a:lstStyle/>
                    <a:p>
                      <a:r>
                        <a:rPr sz="1725" b="0">
                          <a:solidFill>
                            <a:srgbClr val="F3F8F7"/>
                          </a:solidFill>
                          <a:latin typeface="Arial"/>
                          <a:ea typeface="Arial"/>
                          <a:cs typeface="Arial"/>
                        </a:rPr>
                        <a:t>Desviación estándar: 10,6 años</a:t>
                      </a:r>
                    </a:p>
                  </a:txBody>
                  <a:tcPr>
                    <a:solidFill>
                      <a:srgbClr val="09292E"/>
                    </a:solidFill>
                  </a:tcPr>
                </a:tc>
                <a:extLst>
                  <a:ext uri="{0D108BD9-81ED-4DB2-BD59-A6C34878D82A}">
                    <a16:rowId xmlns:a16="http://schemas.microsoft.com/office/drawing/2014/main" val="10002"/>
                  </a:ext>
                </a:extLst>
              </a:tr>
              <a:tr h="507206">
                <a:tc>
                  <a:txBody>
                    <a:bodyPr/>
                    <a:lstStyle/>
                    <a:p>
                      <a:r>
                        <a:rPr sz="1725" b="0">
                          <a:solidFill>
                            <a:srgbClr val="F3F8F7"/>
                          </a:solidFill>
                          <a:latin typeface="Arial"/>
                          <a:ea typeface="Arial"/>
                          <a:cs typeface="Arial"/>
                        </a:rPr>
                        <a:t>Mujeres</a:t>
                      </a:r>
                    </a:p>
                  </a:txBody>
                  <a:tcPr>
                    <a:solidFill>
                      <a:srgbClr val="09292E"/>
                    </a:solidFill>
                  </a:tcPr>
                </a:tc>
                <a:tc>
                  <a:txBody>
                    <a:bodyPr/>
                    <a:lstStyle/>
                    <a:p>
                      <a:r>
                        <a:rPr sz="1725" b="0">
                          <a:solidFill>
                            <a:srgbClr val="F3F8F7"/>
                          </a:solidFill>
                          <a:latin typeface="Arial"/>
                          <a:ea typeface="Arial"/>
                          <a:cs typeface="Arial"/>
                        </a:rPr>
                        <a:t>810 (50,3 %)</a:t>
                      </a:r>
                    </a:p>
                  </a:txBody>
                  <a:tcPr>
                    <a:solidFill>
                      <a:srgbClr val="09292E"/>
                    </a:solidFill>
                  </a:tcPr>
                </a:tc>
                <a:tc>
                  <a:txBody>
                    <a:bodyPr/>
                    <a:lstStyle/>
                    <a:p>
                      <a:r>
                        <a:rPr sz="1725" b="0">
                          <a:solidFill>
                            <a:srgbClr val="F3F8F7"/>
                          </a:solidFill>
                          <a:latin typeface="Arial"/>
                          <a:ea typeface="Arial"/>
                          <a:cs typeface="Arial"/>
                        </a:rPr>
                        <a:t>Distribución de la muestra</a:t>
                      </a:r>
                    </a:p>
                  </a:txBody>
                  <a:tcPr>
                    <a:solidFill>
                      <a:srgbClr val="09292E"/>
                    </a:solidFill>
                  </a:tcPr>
                </a:tc>
                <a:extLst>
                  <a:ext uri="{0D108BD9-81ED-4DB2-BD59-A6C34878D82A}">
                    <a16:rowId xmlns:a16="http://schemas.microsoft.com/office/drawing/2014/main" val="10003"/>
                  </a:ext>
                </a:extLst>
              </a:tr>
              <a:tr h="507206">
                <a:tc>
                  <a:txBody>
                    <a:bodyPr/>
                    <a:lstStyle/>
                    <a:p>
                      <a:r>
                        <a:rPr sz="1725" b="0">
                          <a:solidFill>
                            <a:srgbClr val="F3F8F7"/>
                          </a:solidFill>
                          <a:latin typeface="Arial"/>
                          <a:ea typeface="Arial"/>
                          <a:cs typeface="Arial"/>
                        </a:rPr>
                        <a:t>Tamizaje</a:t>
                      </a:r>
                    </a:p>
                  </a:txBody>
                  <a:tcPr>
                    <a:solidFill>
                      <a:srgbClr val="09292E"/>
                    </a:solidFill>
                  </a:tcPr>
                </a:tc>
                <a:tc>
                  <a:txBody>
                    <a:bodyPr/>
                    <a:lstStyle/>
                    <a:p>
                      <a:r>
                        <a:rPr sz="1725" b="0">
                          <a:solidFill>
                            <a:srgbClr val="F3F8F7"/>
                          </a:solidFill>
                          <a:latin typeface="Arial"/>
                          <a:ea typeface="Arial"/>
                          <a:cs typeface="Arial"/>
                        </a:rPr>
                        <a:t>≥42 puntos</a:t>
                      </a:r>
                    </a:p>
                  </a:txBody>
                  <a:tcPr>
                    <a:solidFill>
                      <a:srgbClr val="09292E"/>
                    </a:solidFill>
                  </a:tcPr>
                </a:tc>
                <a:tc>
                  <a:txBody>
                    <a:bodyPr/>
                    <a:lstStyle/>
                    <a:p>
                      <a:r>
                        <a:rPr sz="1725" b="0">
                          <a:solidFill>
                            <a:srgbClr val="F3F8F7"/>
                          </a:solidFill>
                          <a:latin typeface="Arial"/>
                          <a:ea typeface="Arial"/>
                          <a:cs typeface="Arial"/>
                        </a:rPr>
                        <a:t>Cuestionario validado en español</a:t>
                      </a:r>
                    </a:p>
                  </a:txBody>
                  <a:tcPr>
                    <a:solidFill>
                      <a:srgbClr val="09292E"/>
                    </a:solidFill>
                  </a:tcPr>
                </a:tc>
                <a:extLst>
                  <a:ext uri="{0D108BD9-81ED-4DB2-BD59-A6C34878D82A}">
                    <a16:rowId xmlns:a16="http://schemas.microsoft.com/office/drawing/2014/main" val="10004"/>
                  </a:ext>
                </a:extLst>
              </a:tr>
            </a:tbl>
          </a:graphicData>
        </a:graphic>
      </p:graphicFrame>
      <p:sp>
        <p:nvSpPr>
          <p:cNvPr id="7" name="Rectángulo 6">
            <a:extLst>
              <a:ext uri="{FF2B5EF4-FFF2-40B4-BE49-F238E27FC236}">
                <a16:creationId xmlns:a16="http://schemas.microsoft.com/office/drawing/2014/main" id="{A3E73000-F2EF-4333-B319-E5230513DC81}"/>
              </a:ext>
            </a:extLst>
          </p:cNvPr>
          <p:cNvSpPr>
            <a:spLocks noGrp="1"/>
          </p:cNvSpPr>
          <p:nvPr/>
        </p:nvSpPr>
        <p:spPr>
          <a:xfrm>
            <a:off x="609600" y="5600700"/>
            <a:ext cx="10668000" cy="609600"/>
          </a:xfrm>
          <a:prstGeom prst="rect">
            <a:avLst/>
          </a:prstGeom>
          <a:noFill/>
          <a:ln w="0">
            <a:noFill/>
          </a:ln>
        </p:spPr>
        <p:txBody>
          <a:bodyPr>
            <a:noAutofit/>
          </a:bodyPr>
          <a:lstStyle/>
          <a:p>
            <a:pPr>
              <a:defRPr sz="1950" b="0">
                <a:solidFill>
                  <a:srgbClr val="67E5BA"/>
                </a:solidFill>
                <a:latin typeface="Arial"/>
                <a:ea typeface="Arial"/>
                <a:cs typeface="Arial"/>
              </a:defRPr>
            </a:pPr>
            <a:r>
              <a:rPr sz="1950" b="0" dirty="0">
                <a:solidFill>
                  <a:srgbClr val="67E5BA"/>
                </a:solidFill>
                <a:latin typeface="Arial"/>
                <a:ea typeface="Arial"/>
                <a:cs typeface="Arial"/>
              </a:rPr>
              <a:t>El </a:t>
            </a:r>
            <a:r>
              <a:rPr sz="1950" b="0" dirty="0" err="1">
                <a:solidFill>
                  <a:srgbClr val="67E5BA"/>
                </a:solidFill>
                <a:latin typeface="Arial"/>
                <a:ea typeface="Arial"/>
                <a:cs typeface="Arial"/>
              </a:rPr>
              <a:t>resultado</a:t>
            </a:r>
            <a:r>
              <a:rPr sz="1950" b="0" dirty="0">
                <a:solidFill>
                  <a:srgbClr val="67E5BA"/>
                </a:solidFill>
                <a:latin typeface="Arial"/>
                <a:ea typeface="Arial"/>
                <a:cs typeface="Arial"/>
              </a:rPr>
              <a:t> </a:t>
            </a:r>
            <a:r>
              <a:rPr sz="1950" b="0" dirty="0" err="1">
                <a:solidFill>
                  <a:srgbClr val="67E5BA"/>
                </a:solidFill>
                <a:latin typeface="Arial"/>
                <a:ea typeface="Arial"/>
                <a:cs typeface="Arial"/>
              </a:rPr>
              <a:t>corresponde</a:t>
            </a:r>
            <a:r>
              <a:rPr sz="1950" b="0" dirty="0">
                <a:solidFill>
                  <a:srgbClr val="67E5BA"/>
                </a:solidFill>
                <a:latin typeface="Arial"/>
                <a:ea typeface="Arial"/>
                <a:cs typeface="Arial"/>
              </a:rPr>
              <a:t> a un </a:t>
            </a:r>
            <a:r>
              <a:rPr sz="1950" b="0" dirty="0" err="1">
                <a:solidFill>
                  <a:srgbClr val="67E5BA"/>
                </a:solidFill>
                <a:latin typeface="Arial"/>
                <a:ea typeface="Arial"/>
                <a:cs typeface="Arial"/>
              </a:rPr>
              <a:t>tamizaje</a:t>
            </a:r>
            <a:r>
              <a:rPr sz="1950" b="0" dirty="0">
                <a:solidFill>
                  <a:srgbClr val="67E5BA"/>
                </a:solidFill>
                <a:latin typeface="Arial"/>
                <a:ea typeface="Arial"/>
                <a:cs typeface="Arial"/>
              </a:rPr>
              <a:t> local. No es un </a:t>
            </a:r>
            <a:r>
              <a:rPr sz="1950" b="0" dirty="0" err="1">
                <a:solidFill>
                  <a:srgbClr val="67E5BA"/>
                </a:solidFill>
                <a:latin typeface="Arial"/>
                <a:ea typeface="Arial"/>
                <a:cs typeface="Arial"/>
              </a:rPr>
              <a:t>diagnóstico</a:t>
            </a:r>
            <a:r>
              <a:rPr sz="1950" b="0" dirty="0">
                <a:solidFill>
                  <a:srgbClr val="67E5BA"/>
                </a:solidFill>
                <a:latin typeface="Arial"/>
                <a:ea typeface="Arial"/>
                <a:cs typeface="Arial"/>
              </a:rPr>
              <a:t> </a:t>
            </a:r>
            <a:r>
              <a:rPr sz="1950" b="0" dirty="0" err="1">
                <a:solidFill>
                  <a:srgbClr val="67E5BA"/>
                </a:solidFill>
                <a:latin typeface="Arial"/>
                <a:ea typeface="Arial"/>
                <a:cs typeface="Arial"/>
              </a:rPr>
              <a:t>clínico</a:t>
            </a:r>
            <a:r>
              <a:rPr sz="1950" b="0" dirty="0">
                <a:solidFill>
                  <a:srgbClr val="67E5BA"/>
                </a:solidFill>
                <a:latin typeface="Arial"/>
                <a:ea typeface="Arial"/>
                <a:cs typeface="Arial"/>
              </a:rPr>
              <a:t> </a:t>
            </a:r>
            <a:r>
              <a:rPr sz="1950" b="0" dirty="0" err="1">
                <a:solidFill>
                  <a:srgbClr val="67E5BA"/>
                </a:solidFill>
                <a:latin typeface="Arial"/>
                <a:ea typeface="Arial"/>
                <a:cs typeface="Arial"/>
              </a:rPr>
              <a:t>ni</a:t>
            </a:r>
            <a:r>
              <a:rPr sz="1950" b="0" dirty="0">
                <a:solidFill>
                  <a:srgbClr val="67E5BA"/>
                </a:solidFill>
                <a:latin typeface="Arial"/>
                <a:ea typeface="Arial"/>
                <a:cs typeface="Arial"/>
              </a:rPr>
              <a:t> </a:t>
            </a:r>
            <a:r>
              <a:rPr sz="1950" b="0" dirty="0" err="1">
                <a:solidFill>
                  <a:srgbClr val="67E5BA"/>
                </a:solidFill>
                <a:latin typeface="Arial"/>
                <a:ea typeface="Arial"/>
                <a:cs typeface="Arial"/>
              </a:rPr>
              <a:t>una</a:t>
            </a:r>
            <a:r>
              <a:rPr sz="1950" b="0" dirty="0">
                <a:solidFill>
                  <a:srgbClr val="67E5BA"/>
                </a:solidFill>
                <a:latin typeface="Arial"/>
                <a:ea typeface="Arial"/>
                <a:cs typeface="Arial"/>
              </a:rPr>
              <a:t> </a:t>
            </a:r>
            <a:r>
              <a:rPr sz="1950" b="0" dirty="0" err="1">
                <a:solidFill>
                  <a:srgbClr val="67E5BA"/>
                </a:solidFill>
                <a:latin typeface="Arial"/>
                <a:ea typeface="Arial"/>
                <a:cs typeface="Arial"/>
              </a:rPr>
              <a:t>estimación</a:t>
            </a:r>
            <a:r>
              <a:rPr sz="1950" b="0" dirty="0">
                <a:solidFill>
                  <a:srgbClr val="67E5BA"/>
                </a:solidFill>
                <a:latin typeface="Arial"/>
                <a:ea typeface="Arial"/>
                <a:cs typeface="Arial"/>
              </a:rPr>
              <a:t> </a:t>
            </a:r>
            <a:r>
              <a:rPr sz="1950" b="0" dirty="0" err="1">
                <a:solidFill>
                  <a:srgbClr val="67E5BA"/>
                </a:solidFill>
                <a:latin typeface="Arial"/>
                <a:ea typeface="Arial"/>
                <a:cs typeface="Arial"/>
              </a:rPr>
              <a:t>nacional</a:t>
            </a:r>
            <a:r>
              <a:rPr sz="1950" b="0" dirty="0">
                <a:solidFill>
                  <a:srgbClr val="67E5BA"/>
                </a:solidFill>
                <a:latin typeface="Arial"/>
                <a:ea typeface="Arial"/>
                <a:cs typeface="Arial"/>
              </a:rPr>
              <a:t>.</a:t>
            </a:r>
          </a:p>
        </p:txBody>
      </p:sp>
    </p:spTree>
    <p:extLst>
      <p:ext uri="{BB962C8B-B14F-4D97-AF65-F5344CB8AC3E}">
        <p14:creationId xmlns:p14="http://schemas.microsoft.com/office/powerpoint/2010/main" val="2045366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677F86B7-FFC6-4F7E-BFB2-BECC29837E45}"/>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Propuesta técnica de la pulsera</a:t>
            </a:r>
          </a:p>
        </p:txBody>
      </p:sp>
      <p:sp>
        <p:nvSpPr>
          <p:cNvPr id="2" name="Rectángulo 1">
            <a:extLst>
              <a:ext uri="{FF2B5EF4-FFF2-40B4-BE49-F238E27FC236}">
                <a16:creationId xmlns:a16="http://schemas.microsoft.com/office/drawing/2014/main" id="{6E4E2D03-6929-45A6-A7BE-BC82EB567134}"/>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05</a:t>
            </a:r>
          </a:p>
        </p:txBody>
      </p:sp>
      <p:pic>
        <p:nvPicPr>
          <p:cNvPr id="15" name="Imagen 14"/>
          <p:cNvPicPr>
            <a:picLocks noChangeAspect="1"/>
          </p:cNvPicPr>
          <p:nvPr/>
        </p:nvPicPr>
        <p:blipFill>
          <a:blip r:embed="rId3"/>
          <a:stretch/>
        </p:blipFill>
        <p:spPr>
          <a:xfrm>
            <a:off x="7297414" y="1438275"/>
            <a:ext cx="3597923" cy="4495800"/>
          </a:xfrm>
          <a:prstGeom prst="rect">
            <a:avLst/>
          </a:prstGeom>
        </p:spPr>
      </p:pic>
      <p:sp>
        <p:nvSpPr>
          <p:cNvPr id="5" name="Rectángulo 4">
            <a:extLst>
              <a:ext uri="{FF2B5EF4-FFF2-40B4-BE49-F238E27FC236}">
                <a16:creationId xmlns:a16="http://schemas.microsoft.com/office/drawing/2014/main" id="{844E8208-1407-4198-BEA9-103A850469E3}"/>
              </a:ext>
            </a:extLst>
          </p:cNvPr>
          <p:cNvSpPr>
            <a:spLocks noGrp="1"/>
          </p:cNvSpPr>
          <p:nvPr/>
        </p:nvSpPr>
        <p:spPr>
          <a:xfrm>
            <a:off x="609600" y="1695450"/>
            <a:ext cx="5476875" cy="466725"/>
          </a:xfrm>
          <a:prstGeom prst="rect">
            <a:avLst/>
          </a:prstGeom>
          <a:noFill/>
          <a:ln w="0">
            <a:noFill/>
          </a:ln>
        </p:spPr>
        <p:txBody>
          <a:bodyPr>
            <a:noAutofit/>
          </a:bodyPr>
          <a:lstStyle/>
          <a:p>
            <a:pPr>
              <a:defRPr sz="2550" b="1">
                <a:solidFill>
                  <a:srgbClr val="67E5BA"/>
                </a:solidFill>
                <a:latin typeface="Arial"/>
                <a:ea typeface="Arial"/>
                <a:cs typeface="Arial"/>
              </a:defRPr>
            </a:pPr>
            <a:r>
              <a:rPr sz="2550" b="1">
                <a:solidFill>
                  <a:srgbClr val="67E5BA"/>
                </a:solidFill>
                <a:latin typeface="Arial"/>
                <a:ea typeface="Arial"/>
                <a:cs typeface="Arial"/>
              </a:rPr>
              <a:t>MPU6050</a:t>
            </a:r>
          </a:p>
        </p:txBody>
      </p:sp>
      <p:sp>
        <p:nvSpPr>
          <p:cNvPr id="6" name="Rectángulo 5">
            <a:extLst>
              <a:ext uri="{FF2B5EF4-FFF2-40B4-BE49-F238E27FC236}">
                <a16:creationId xmlns:a16="http://schemas.microsoft.com/office/drawing/2014/main" id="{D75DACE9-34BB-4103-A426-21EED0DBE872}"/>
              </a:ext>
            </a:extLst>
          </p:cNvPr>
          <p:cNvSpPr>
            <a:spLocks noGrp="1"/>
          </p:cNvSpPr>
          <p:nvPr/>
        </p:nvSpPr>
        <p:spPr>
          <a:xfrm>
            <a:off x="609600" y="2228850"/>
            <a:ext cx="5429250" cy="647700"/>
          </a:xfrm>
          <a:prstGeom prst="rect">
            <a:avLst/>
          </a:prstGeom>
          <a:noFill/>
          <a:ln w="0">
            <a:noFill/>
          </a:ln>
        </p:spPr>
        <p:txBody>
          <a:bodyPr>
            <a:noAutofit/>
          </a:bodyPr>
          <a:lstStyle/>
          <a:p>
            <a:pPr>
              <a:defRPr sz="2025" b="0">
                <a:solidFill>
                  <a:srgbClr val="F3F8F7"/>
                </a:solidFill>
                <a:latin typeface="Arial"/>
                <a:ea typeface="Arial"/>
                <a:cs typeface="Arial"/>
              </a:defRPr>
            </a:pPr>
            <a:r>
              <a:rPr sz="2025" b="0">
                <a:solidFill>
                  <a:srgbClr val="F3F8F7"/>
                </a:solidFill>
                <a:latin typeface="Arial"/>
                <a:ea typeface="Arial"/>
                <a:cs typeface="Arial"/>
              </a:rPr>
              <a:t>Mide aceleración y velocidad angular.</a:t>
            </a:r>
          </a:p>
        </p:txBody>
      </p:sp>
      <p:sp>
        <p:nvSpPr>
          <p:cNvPr id="7" name="Rectángulo 6">
            <a:extLst>
              <a:ext uri="{FF2B5EF4-FFF2-40B4-BE49-F238E27FC236}">
                <a16:creationId xmlns:a16="http://schemas.microsoft.com/office/drawing/2014/main" id="{94B0A741-3CF2-4EA8-BC65-43F51893EC96}"/>
              </a:ext>
            </a:extLst>
          </p:cNvPr>
          <p:cNvSpPr>
            <a:spLocks noGrp="1"/>
          </p:cNvSpPr>
          <p:nvPr/>
        </p:nvSpPr>
        <p:spPr>
          <a:xfrm>
            <a:off x="609600" y="3095625"/>
            <a:ext cx="5476875" cy="466725"/>
          </a:xfrm>
          <a:prstGeom prst="rect">
            <a:avLst/>
          </a:prstGeom>
          <a:noFill/>
          <a:ln w="0">
            <a:noFill/>
          </a:ln>
        </p:spPr>
        <p:txBody>
          <a:bodyPr>
            <a:noAutofit/>
          </a:bodyPr>
          <a:lstStyle/>
          <a:p>
            <a:pPr>
              <a:defRPr sz="2550" b="1">
                <a:solidFill>
                  <a:srgbClr val="67E5BA"/>
                </a:solidFill>
                <a:latin typeface="Arial"/>
                <a:ea typeface="Arial"/>
                <a:cs typeface="Arial"/>
              </a:defRPr>
            </a:pPr>
            <a:r>
              <a:rPr sz="2550" b="1">
                <a:solidFill>
                  <a:srgbClr val="67E5BA"/>
                </a:solidFill>
                <a:latin typeface="Arial"/>
                <a:ea typeface="Arial"/>
                <a:cs typeface="Arial"/>
              </a:rPr>
              <a:t>ESP32</a:t>
            </a:r>
          </a:p>
        </p:txBody>
      </p:sp>
      <p:sp>
        <p:nvSpPr>
          <p:cNvPr id="8" name="Rectángulo 7">
            <a:extLst>
              <a:ext uri="{FF2B5EF4-FFF2-40B4-BE49-F238E27FC236}">
                <a16:creationId xmlns:a16="http://schemas.microsoft.com/office/drawing/2014/main" id="{EA585849-C253-4189-AE71-2CC138DE0BD9}"/>
              </a:ext>
            </a:extLst>
          </p:cNvPr>
          <p:cNvSpPr>
            <a:spLocks noGrp="1"/>
          </p:cNvSpPr>
          <p:nvPr/>
        </p:nvSpPr>
        <p:spPr>
          <a:xfrm>
            <a:off x="609600" y="3629025"/>
            <a:ext cx="5381625" cy="571500"/>
          </a:xfrm>
          <a:prstGeom prst="rect">
            <a:avLst/>
          </a:prstGeom>
          <a:noFill/>
          <a:ln w="0">
            <a:noFill/>
          </a:ln>
        </p:spPr>
        <p:txBody>
          <a:bodyPr>
            <a:noAutofit/>
          </a:bodyPr>
          <a:lstStyle/>
          <a:p>
            <a:pPr>
              <a:defRPr sz="2025" b="0">
                <a:solidFill>
                  <a:srgbClr val="F3F8F7"/>
                </a:solidFill>
                <a:latin typeface="Arial"/>
                <a:ea typeface="Arial"/>
                <a:cs typeface="Arial"/>
              </a:defRPr>
            </a:pPr>
            <a:r>
              <a:rPr sz="2025" b="0">
                <a:solidFill>
                  <a:srgbClr val="F3F8F7"/>
                </a:solidFill>
                <a:latin typeface="Arial"/>
                <a:ea typeface="Arial"/>
                <a:cs typeface="Arial"/>
              </a:rPr>
              <a:t>Registra y procesa la señal.</a:t>
            </a:r>
          </a:p>
        </p:txBody>
      </p:sp>
      <p:sp>
        <p:nvSpPr>
          <p:cNvPr id="9" name="Rectángulo 8">
            <a:extLst>
              <a:ext uri="{FF2B5EF4-FFF2-40B4-BE49-F238E27FC236}">
                <a16:creationId xmlns:a16="http://schemas.microsoft.com/office/drawing/2014/main" id="{2F76812B-FA4C-451C-BF03-D999CF3EF592}"/>
              </a:ext>
            </a:extLst>
          </p:cNvPr>
          <p:cNvSpPr>
            <a:spLocks noGrp="1"/>
          </p:cNvSpPr>
          <p:nvPr/>
        </p:nvSpPr>
        <p:spPr>
          <a:xfrm>
            <a:off x="609600" y="4476750"/>
            <a:ext cx="5619750" cy="466725"/>
          </a:xfrm>
          <a:prstGeom prst="rect">
            <a:avLst/>
          </a:prstGeom>
          <a:noFill/>
          <a:ln w="0">
            <a:noFill/>
          </a:ln>
        </p:spPr>
        <p:txBody>
          <a:bodyPr>
            <a:noAutofit/>
          </a:bodyPr>
          <a:lstStyle/>
          <a:p>
            <a:pPr>
              <a:defRPr sz="2550" b="1">
                <a:solidFill>
                  <a:srgbClr val="67E5BA"/>
                </a:solidFill>
                <a:latin typeface="Arial"/>
                <a:ea typeface="Arial"/>
                <a:cs typeface="Arial"/>
              </a:defRPr>
            </a:pPr>
            <a:r>
              <a:rPr sz="2550" b="1">
                <a:solidFill>
                  <a:srgbClr val="67E5BA"/>
                </a:solidFill>
                <a:latin typeface="Arial"/>
                <a:ea typeface="Arial"/>
                <a:cs typeface="Arial"/>
              </a:rPr>
              <a:t>Actuador mecánico</a:t>
            </a:r>
          </a:p>
        </p:txBody>
      </p:sp>
      <p:sp>
        <p:nvSpPr>
          <p:cNvPr id="10" name="Rectángulo 9">
            <a:extLst>
              <a:ext uri="{FF2B5EF4-FFF2-40B4-BE49-F238E27FC236}">
                <a16:creationId xmlns:a16="http://schemas.microsoft.com/office/drawing/2014/main" id="{6FD96408-5994-4CA2-848C-46AF5D8FA9F6}"/>
              </a:ext>
            </a:extLst>
          </p:cNvPr>
          <p:cNvSpPr>
            <a:spLocks noGrp="1"/>
          </p:cNvSpPr>
          <p:nvPr/>
        </p:nvSpPr>
        <p:spPr>
          <a:xfrm>
            <a:off x="609600" y="5029200"/>
            <a:ext cx="5381625" cy="781050"/>
          </a:xfrm>
          <a:prstGeom prst="rect">
            <a:avLst/>
          </a:prstGeom>
          <a:noFill/>
          <a:ln w="0">
            <a:noFill/>
          </a:ln>
        </p:spPr>
        <p:txBody>
          <a:bodyPr>
            <a:noAutofit/>
          </a:bodyPr>
          <a:lstStyle/>
          <a:p>
            <a:pPr>
              <a:defRPr sz="2025" b="0">
                <a:solidFill>
                  <a:srgbClr val="F3F8F7"/>
                </a:solidFill>
                <a:latin typeface="Arial"/>
                <a:ea typeface="Arial"/>
                <a:cs typeface="Arial"/>
              </a:defRPr>
            </a:pPr>
            <a:r>
              <a:rPr sz="2025" b="0">
                <a:solidFill>
                  <a:srgbClr val="F3F8F7"/>
                </a:solidFill>
                <a:latin typeface="Arial"/>
                <a:ea typeface="Arial"/>
                <a:cs typeface="Arial"/>
              </a:rPr>
              <a:t>Respuesta experimental por definir</a:t>
            </a:r>
          </a:p>
          <a:p>
            <a:pPr>
              <a:defRPr sz="2025" b="0">
                <a:solidFill>
                  <a:srgbClr val="F3F8F7"/>
                </a:solidFill>
                <a:latin typeface="Arial"/>
                <a:ea typeface="Arial"/>
                <a:cs typeface="Arial"/>
              </a:defRPr>
            </a:pPr>
            <a:r>
              <a:rPr sz="2025" b="0">
                <a:solidFill>
                  <a:srgbClr val="F3F8F7"/>
                </a:solidFill>
                <a:latin typeface="Arial"/>
                <a:ea typeface="Arial"/>
                <a:cs typeface="Arial"/>
              </a:rPr>
              <a:t>y comprobar.</a:t>
            </a:r>
          </a:p>
        </p:txBody>
      </p:sp>
    </p:spTree>
    <p:extLst>
      <p:ext uri="{BB962C8B-B14F-4D97-AF65-F5344CB8AC3E}">
        <p14:creationId xmlns:p14="http://schemas.microsoft.com/office/powerpoint/2010/main" val="987275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632858EC-1551-4038-B498-23A48828F4B7}"/>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Validación experimental propuesta</a:t>
            </a:r>
          </a:p>
        </p:txBody>
      </p:sp>
      <p:sp>
        <p:nvSpPr>
          <p:cNvPr id="2" name="Rectángulo 1">
            <a:extLst>
              <a:ext uri="{FF2B5EF4-FFF2-40B4-BE49-F238E27FC236}">
                <a16:creationId xmlns:a16="http://schemas.microsoft.com/office/drawing/2014/main" id="{967E2358-5834-43FA-A108-1B3144E3C36B}"/>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06</a:t>
            </a:r>
          </a:p>
        </p:txBody>
      </p:sp>
      <p:sp>
        <p:nvSpPr>
          <p:cNvPr id="4" name="Rectángulo 3">
            <a:extLst>
              <a:ext uri="{FF2B5EF4-FFF2-40B4-BE49-F238E27FC236}">
                <a16:creationId xmlns:a16="http://schemas.microsoft.com/office/drawing/2014/main" id="{4F6AE612-F62B-4197-8C4C-7E865BE7F2CB}"/>
              </a:ext>
            </a:extLst>
          </p:cNvPr>
          <p:cNvSpPr>
            <a:spLocks noGrp="1"/>
          </p:cNvSpPr>
          <p:nvPr/>
        </p:nvSpPr>
        <p:spPr>
          <a:xfrm>
            <a:off x="609600" y="1733550"/>
            <a:ext cx="2381250" cy="762000"/>
          </a:xfrm>
          <a:prstGeom prst="rect">
            <a:avLst/>
          </a:prstGeom>
          <a:noFill/>
          <a:ln w="0">
            <a:noFill/>
          </a:ln>
        </p:spPr>
        <p:txBody>
          <a:bodyPr>
            <a:noAutofit/>
          </a:bodyPr>
          <a:lstStyle/>
          <a:p>
            <a:pPr>
              <a:defRPr sz="4500" b="1">
                <a:solidFill>
                  <a:srgbClr val="67E5BA"/>
                </a:solidFill>
                <a:latin typeface="Arial"/>
                <a:ea typeface="Arial"/>
                <a:cs typeface="Arial"/>
              </a:defRPr>
            </a:pPr>
            <a:r>
              <a:rPr sz="4500" b="1">
                <a:solidFill>
                  <a:srgbClr val="67E5BA"/>
                </a:solidFill>
                <a:latin typeface="Arial"/>
                <a:ea typeface="Arial"/>
                <a:cs typeface="Arial"/>
              </a:rPr>
              <a:t>01</a:t>
            </a:r>
          </a:p>
        </p:txBody>
      </p:sp>
      <p:sp>
        <p:nvSpPr>
          <p:cNvPr id="5" name="Rectángulo 4">
            <a:extLst>
              <a:ext uri="{FF2B5EF4-FFF2-40B4-BE49-F238E27FC236}">
                <a16:creationId xmlns:a16="http://schemas.microsoft.com/office/drawing/2014/main" id="{B3F0A387-283E-4BDF-A49E-BE7EDC432DED}"/>
              </a:ext>
            </a:extLst>
          </p:cNvPr>
          <p:cNvSpPr>
            <a:spLocks noGrp="1"/>
          </p:cNvSpPr>
          <p:nvPr/>
        </p:nvSpPr>
        <p:spPr>
          <a:xfrm>
            <a:off x="609600" y="2657475"/>
            <a:ext cx="2571750" cy="571500"/>
          </a:xfrm>
          <a:prstGeom prst="rect">
            <a:avLst/>
          </a:prstGeom>
          <a:noFill/>
          <a:ln w="0">
            <a:noFill/>
          </a:ln>
        </p:spPr>
        <p:txBody>
          <a:bodyPr>
            <a:noAutofit/>
          </a:bodyPr>
          <a:lstStyle/>
          <a:p>
            <a:pPr>
              <a:defRPr sz="2175" b="1">
                <a:solidFill>
                  <a:srgbClr val="F3F8F7"/>
                </a:solidFill>
                <a:latin typeface="Arial"/>
                <a:ea typeface="Arial"/>
                <a:cs typeface="Arial"/>
              </a:defRPr>
            </a:pPr>
            <a:r>
              <a:rPr sz="2175" b="1">
                <a:solidFill>
                  <a:srgbClr val="F3F8F7"/>
                </a:solidFill>
                <a:latin typeface="Arial"/>
                <a:ea typeface="Arial"/>
                <a:cs typeface="Arial"/>
              </a:rPr>
              <a:t>Calibración</a:t>
            </a:r>
          </a:p>
        </p:txBody>
      </p:sp>
      <p:sp>
        <p:nvSpPr>
          <p:cNvPr id="6" name="Rectángulo 5">
            <a:extLst>
              <a:ext uri="{FF2B5EF4-FFF2-40B4-BE49-F238E27FC236}">
                <a16:creationId xmlns:a16="http://schemas.microsoft.com/office/drawing/2014/main" id="{0BBE3C37-9ACC-442F-A004-300332A8E4FD}"/>
              </a:ext>
            </a:extLst>
          </p:cNvPr>
          <p:cNvSpPr>
            <a:spLocks noGrp="1"/>
          </p:cNvSpPr>
          <p:nvPr/>
        </p:nvSpPr>
        <p:spPr>
          <a:xfrm>
            <a:off x="609600" y="3352800"/>
            <a:ext cx="2428875" cy="762000"/>
          </a:xfrm>
          <a:prstGeom prst="rect">
            <a:avLst/>
          </a:prstGeom>
          <a:noFill/>
          <a:ln w="0">
            <a:noFill/>
          </a:ln>
        </p:spPr>
        <p:txBody>
          <a:bodyPr>
            <a:noAutofit/>
          </a:bodyPr>
          <a:lstStyle/>
          <a:p>
            <a:pPr>
              <a:defRPr sz="1875" b="0">
                <a:solidFill>
                  <a:srgbClr val="B4CECA"/>
                </a:solidFill>
                <a:latin typeface="Arial"/>
                <a:ea typeface="Arial"/>
                <a:cs typeface="Arial"/>
              </a:defRPr>
            </a:pPr>
            <a:r>
              <a:rPr sz="1875" b="0">
                <a:solidFill>
                  <a:srgbClr val="B4CECA"/>
                </a:solidFill>
                <a:latin typeface="Arial"/>
                <a:ea typeface="Arial"/>
                <a:cs typeface="Arial"/>
              </a:rPr>
              <a:t>Sensor y referencia</a:t>
            </a:r>
          </a:p>
        </p:txBody>
      </p:sp>
      <p:sp>
        <p:nvSpPr>
          <p:cNvPr id="7" name="Rectángulo 6">
            <a:extLst>
              <a:ext uri="{FF2B5EF4-FFF2-40B4-BE49-F238E27FC236}">
                <a16:creationId xmlns:a16="http://schemas.microsoft.com/office/drawing/2014/main" id="{334C632F-F03E-4702-8EE7-AA196E6002E6}"/>
              </a:ext>
            </a:extLst>
          </p:cNvPr>
          <p:cNvSpPr>
            <a:spLocks noGrp="1"/>
          </p:cNvSpPr>
          <p:nvPr/>
        </p:nvSpPr>
        <p:spPr>
          <a:xfrm>
            <a:off x="3381375" y="1733550"/>
            <a:ext cx="2381250" cy="762000"/>
          </a:xfrm>
          <a:prstGeom prst="rect">
            <a:avLst/>
          </a:prstGeom>
          <a:noFill/>
          <a:ln w="0">
            <a:noFill/>
          </a:ln>
        </p:spPr>
        <p:txBody>
          <a:bodyPr>
            <a:noAutofit/>
          </a:bodyPr>
          <a:lstStyle/>
          <a:p>
            <a:pPr>
              <a:defRPr sz="4500" b="1">
                <a:solidFill>
                  <a:srgbClr val="67E5BA"/>
                </a:solidFill>
                <a:latin typeface="Arial"/>
                <a:ea typeface="Arial"/>
                <a:cs typeface="Arial"/>
              </a:defRPr>
            </a:pPr>
            <a:r>
              <a:rPr sz="4500" b="1">
                <a:solidFill>
                  <a:srgbClr val="67E5BA"/>
                </a:solidFill>
                <a:latin typeface="Arial"/>
                <a:ea typeface="Arial"/>
                <a:cs typeface="Arial"/>
              </a:rPr>
              <a:t>02</a:t>
            </a:r>
          </a:p>
        </p:txBody>
      </p:sp>
      <p:sp>
        <p:nvSpPr>
          <p:cNvPr id="8" name="Rectángulo 7">
            <a:extLst>
              <a:ext uri="{FF2B5EF4-FFF2-40B4-BE49-F238E27FC236}">
                <a16:creationId xmlns:a16="http://schemas.microsoft.com/office/drawing/2014/main" id="{C3F305A9-04F2-47F8-94BA-9C889C4B7571}"/>
              </a:ext>
            </a:extLst>
          </p:cNvPr>
          <p:cNvSpPr>
            <a:spLocks noGrp="1"/>
          </p:cNvSpPr>
          <p:nvPr/>
        </p:nvSpPr>
        <p:spPr>
          <a:xfrm>
            <a:off x="3381375" y="2657475"/>
            <a:ext cx="2571750" cy="571500"/>
          </a:xfrm>
          <a:prstGeom prst="rect">
            <a:avLst/>
          </a:prstGeom>
          <a:noFill/>
          <a:ln w="0">
            <a:noFill/>
          </a:ln>
        </p:spPr>
        <p:txBody>
          <a:bodyPr>
            <a:noAutofit/>
          </a:bodyPr>
          <a:lstStyle/>
          <a:p>
            <a:pPr>
              <a:defRPr sz="2175" b="1">
                <a:solidFill>
                  <a:srgbClr val="F3F8F7"/>
                </a:solidFill>
                <a:latin typeface="Arial"/>
                <a:ea typeface="Arial"/>
                <a:cs typeface="Arial"/>
              </a:defRPr>
            </a:pPr>
            <a:r>
              <a:rPr sz="2175" b="1">
                <a:solidFill>
                  <a:srgbClr val="F3F8F7"/>
                </a:solidFill>
                <a:latin typeface="Arial"/>
                <a:ea typeface="Arial"/>
                <a:cs typeface="Arial"/>
              </a:rPr>
              <a:t>Actuador OFF</a:t>
            </a:r>
          </a:p>
        </p:txBody>
      </p:sp>
      <p:sp>
        <p:nvSpPr>
          <p:cNvPr id="9" name="Rectángulo 8">
            <a:extLst>
              <a:ext uri="{FF2B5EF4-FFF2-40B4-BE49-F238E27FC236}">
                <a16:creationId xmlns:a16="http://schemas.microsoft.com/office/drawing/2014/main" id="{2ECDB435-DEAB-4728-A572-05BF135D7454}"/>
              </a:ext>
            </a:extLst>
          </p:cNvPr>
          <p:cNvSpPr>
            <a:spLocks noGrp="1"/>
          </p:cNvSpPr>
          <p:nvPr/>
        </p:nvSpPr>
        <p:spPr>
          <a:xfrm>
            <a:off x="3381375" y="3352800"/>
            <a:ext cx="2428875" cy="762000"/>
          </a:xfrm>
          <a:prstGeom prst="rect">
            <a:avLst/>
          </a:prstGeom>
          <a:noFill/>
          <a:ln w="0">
            <a:noFill/>
          </a:ln>
        </p:spPr>
        <p:txBody>
          <a:bodyPr>
            <a:noAutofit/>
          </a:bodyPr>
          <a:lstStyle/>
          <a:p>
            <a:pPr>
              <a:defRPr sz="1875" b="0">
                <a:solidFill>
                  <a:srgbClr val="B4CECA"/>
                </a:solidFill>
                <a:latin typeface="Arial"/>
                <a:ea typeface="Arial"/>
                <a:cs typeface="Arial"/>
              </a:defRPr>
            </a:pPr>
            <a:r>
              <a:rPr sz="1875" b="0">
                <a:solidFill>
                  <a:srgbClr val="B4CECA"/>
                </a:solidFill>
                <a:latin typeface="Arial"/>
                <a:ea typeface="Arial"/>
                <a:cs typeface="Arial"/>
              </a:rPr>
              <a:t>Registro basal</a:t>
            </a:r>
          </a:p>
        </p:txBody>
      </p:sp>
      <p:sp>
        <p:nvSpPr>
          <p:cNvPr id="10" name="Rectángulo 9">
            <a:extLst>
              <a:ext uri="{FF2B5EF4-FFF2-40B4-BE49-F238E27FC236}">
                <a16:creationId xmlns:a16="http://schemas.microsoft.com/office/drawing/2014/main" id="{A264A75F-E595-43B7-A171-4FF9F00785CA}"/>
              </a:ext>
            </a:extLst>
          </p:cNvPr>
          <p:cNvSpPr>
            <a:spLocks noGrp="1"/>
          </p:cNvSpPr>
          <p:nvPr/>
        </p:nvSpPr>
        <p:spPr>
          <a:xfrm>
            <a:off x="6153150" y="1733550"/>
            <a:ext cx="2381250" cy="762000"/>
          </a:xfrm>
          <a:prstGeom prst="rect">
            <a:avLst/>
          </a:prstGeom>
          <a:noFill/>
          <a:ln w="0">
            <a:noFill/>
          </a:ln>
        </p:spPr>
        <p:txBody>
          <a:bodyPr>
            <a:noAutofit/>
          </a:bodyPr>
          <a:lstStyle/>
          <a:p>
            <a:pPr>
              <a:defRPr sz="4500" b="1">
                <a:solidFill>
                  <a:srgbClr val="67E5BA"/>
                </a:solidFill>
                <a:latin typeface="Arial"/>
                <a:ea typeface="Arial"/>
                <a:cs typeface="Arial"/>
              </a:defRPr>
            </a:pPr>
            <a:r>
              <a:rPr sz="4500" b="1">
                <a:solidFill>
                  <a:srgbClr val="67E5BA"/>
                </a:solidFill>
                <a:latin typeface="Arial"/>
                <a:ea typeface="Arial"/>
                <a:cs typeface="Arial"/>
              </a:rPr>
              <a:t>03</a:t>
            </a:r>
          </a:p>
        </p:txBody>
      </p:sp>
      <p:sp>
        <p:nvSpPr>
          <p:cNvPr id="11" name="Rectángulo 10">
            <a:extLst>
              <a:ext uri="{FF2B5EF4-FFF2-40B4-BE49-F238E27FC236}">
                <a16:creationId xmlns:a16="http://schemas.microsoft.com/office/drawing/2014/main" id="{E8A42745-FE32-4F70-B3A5-93CD4881E886}"/>
              </a:ext>
            </a:extLst>
          </p:cNvPr>
          <p:cNvSpPr>
            <a:spLocks noGrp="1"/>
          </p:cNvSpPr>
          <p:nvPr/>
        </p:nvSpPr>
        <p:spPr>
          <a:xfrm>
            <a:off x="6153150" y="2657475"/>
            <a:ext cx="2571750" cy="571500"/>
          </a:xfrm>
          <a:prstGeom prst="rect">
            <a:avLst/>
          </a:prstGeom>
          <a:noFill/>
          <a:ln w="0">
            <a:noFill/>
          </a:ln>
        </p:spPr>
        <p:txBody>
          <a:bodyPr>
            <a:noAutofit/>
          </a:bodyPr>
          <a:lstStyle/>
          <a:p>
            <a:pPr>
              <a:defRPr sz="2175" b="1">
                <a:solidFill>
                  <a:srgbClr val="F3F8F7"/>
                </a:solidFill>
                <a:latin typeface="Arial"/>
                <a:ea typeface="Arial"/>
                <a:cs typeface="Arial"/>
              </a:defRPr>
            </a:pPr>
            <a:r>
              <a:rPr sz="2175" b="1">
                <a:solidFill>
                  <a:srgbClr val="F3F8F7"/>
                </a:solidFill>
                <a:latin typeface="Arial"/>
                <a:ea typeface="Arial"/>
                <a:cs typeface="Arial"/>
              </a:rPr>
              <a:t>Actuador ON</a:t>
            </a:r>
          </a:p>
        </p:txBody>
      </p:sp>
      <p:sp>
        <p:nvSpPr>
          <p:cNvPr id="12" name="Rectángulo 11">
            <a:extLst>
              <a:ext uri="{FF2B5EF4-FFF2-40B4-BE49-F238E27FC236}">
                <a16:creationId xmlns:a16="http://schemas.microsoft.com/office/drawing/2014/main" id="{2255D18C-CA2A-4276-9A69-DF70F41B4C33}"/>
              </a:ext>
            </a:extLst>
          </p:cNvPr>
          <p:cNvSpPr>
            <a:spLocks noGrp="1"/>
          </p:cNvSpPr>
          <p:nvPr/>
        </p:nvSpPr>
        <p:spPr>
          <a:xfrm>
            <a:off x="6153150" y="3352800"/>
            <a:ext cx="2428875" cy="762000"/>
          </a:xfrm>
          <a:prstGeom prst="rect">
            <a:avLst/>
          </a:prstGeom>
          <a:noFill/>
          <a:ln w="0">
            <a:noFill/>
          </a:ln>
        </p:spPr>
        <p:txBody>
          <a:bodyPr>
            <a:noAutofit/>
          </a:bodyPr>
          <a:lstStyle/>
          <a:p>
            <a:pPr>
              <a:defRPr sz="1875" b="0">
                <a:solidFill>
                  <a:srgbClr val="B4CECA"/>
                </a:solidFill>
                <a:latin typeface="Arial"/>
                <a:ea typeface="Arial"/>
                <a:cs typeface="Arial"/>
              </a:defRPr>
            </a:pPr>
            <a:r>
              <a:rPr sz="1875" b="0">
                <a:solidFill>
                  <a:srgbClr val="B4CECA"/>
                </a:solidFill>
                <a:latin typeface="Arial"/>
                <a:ea typeface="Arial"/>
                <a:cs typeface="Arial"/>
              </a:rPr>
              <a:t>Misma tarea y duración</a:t>
            </a:r>
          </a:p>
        </p:txBody>
      </p:sp>
      <p:sp>
        <p:nvSpPr>
          <p:cNvPr id="13" name="Rectángulo 12">
            <a:extLst>
              <a:ext uri="{FF2B5EF4-FFF2-40B4-BE49-F238E27FC236}">
                <a16:creationId xmlns:a16="http://schemas.microsoft.com/office/drawing/2014/main" id="{B0B352BE-1A3E-4266-9EFA-F9846E661AC2}"/>
              </a:ext>
            </a:extLst>
          </p:cNvPr>
          <p:cNvSpPr>
            <a:spLocks noGrp="1"/>
          </p:cNvSpPr>
          <p:nvPr/>
        </p:nvSpPr>
        <p:spPr>
          <a:xfrm>
            <a:off x="8924925" y="1733550"/>
            <a:ext cx="2381250" cy="762000"/>
          </a:xfrm>
          <a:prstGeom prst="rect">
            <a:avLst/>
          </a:prstGeom>
          <a:noFill/>
          <a:ln w="0">
            <a:noFill/>
          </a:ln>
        </p:spPr>
        <p:txBody>
          <a:bodyPr>
            <a:noAutofit/>
          </a:bodyPr>
          <a:lstStyle/>
          <a:p>
            <a:pPr>
              <a:defRPr sz="4500" b="1">
                <a:solidFill>
                  <a:srgbClr val="67E5BA"/>
                </a:solidFill>
                <a:latin typeface="Arial"/>
                <a:ea typeface="Arial"/>
                <a:cs typeface="Arial"/>
              </a:defRPr>
            </a:pPr>
            <a:r>
              <a:rPr sz="4500" b="1">
                <a:solidFill>
                  <a:srgbClr val="67E5BA"/>
                </a:solidFill>
                <a:latin typeface="Arial"/>
                <a:ea typeface="Arial"/>
                <a:cs typeface="Arial"/>
              </a:rPr>
              <a:t>04</a:t>
            </a:r>
          </a:p>
        </p:txBody>
      </p:sp>
      <p:sp>
        <p:nvSpPr>
          <p:cNvPr id="14" name="Rectángulo 13">
            <a:extLst>
              <a:ext uri="{FF2B5EF4-FFF2-40B4-BE49-F238E27FC236}">
                <a16:creationId xmlns:a16="http://schemas.microsoft.com/office/drawing/2014/main" id="{62E96E74-4287-4A40-A796-490A314B6068}"/>
              </a:ext>
            </a:extLst>
          </p:cNvPr>
          <p:cNvSpPr>
            <a:spLocks noGrp="1"/>
          </p:cNvSpPr>
          <p:nvPr/>
        </p:nvSpPr>
        <p:spPr>
          <a:xfrm>
            <a:off x="8924925" y="2657475"/>
            <a:ext cx="2571750" cy="571500"/>
          </a:xfrm>
          <a:prstGeom prst="rect">
            <a:avLst/>
          </a:prstGeom>
          <a:noFill/>
          <a:ln w="0">
            <a:noFill/>
          </a:ln>
        </p:spPr>
        <p:txBody>
          <a:bodyPr>
            <a:noAutofit/>
          </a:bodyPr>
          <a:lstStyle/>
          <a:p>
            <a:pPr>
              <a:defRPr sz="2175" b="1">
                <a:solidFill>
                  <a:srgbClr val="F3F8F7"/>
                </a:solidFill>
                <a:latin typeface="Arial"/>
                <a:ea typeface="Arial"/>
                <a:cs typeface="Arial"/>
              </a:defRPr>
            </a:pPr>
            <a:r>
              <a:rPr sz="2175" b="1">
                <a:solidFill>
                  <a:srgbClr val="F3F8F7"/>
                </a:solidFill>
                <a:latin typeface="Arial"/>
                <a:ea typeface="Arial"/>
                <a:cs typeface="Arial"/>
              </a:rPr>
              <a:t>Comparación</a:t>
            </a:r>
          </a:p>
        </p:txBody>
      </p:sp>
      <p:sp>
        <p:nvSpPr>
          <p:cNvPr id="15" name="Rectángulo 14">
            <a:extLst>
              <a:ext uri="{FF2B5EF4-FFF2-40B4-BE49-F238E27FC236}">
                <a16:creationId xmlns:a16="http://schemas.microsoft.com/office/drawing/2014/main" id="{CEF6AD42-E044-421D-9F53-BA20995A7556}"/>
              </a:ext>
            </a:extLst>
          </p:cNvPr>
          <p:cNvSpPr>
            <a:spLocks noGrp="1"/>
          </p:cNvSpPr>
          <p:nvPr/>
        </p:nvSpPr>
        <p:spPr>
          <a:xfrm>
            <a:off x="8924925" y="3352800"/>
            <a:ext cx="2428875" cy="762000"/>
          </a:xfrm>
          <a:prstGeom prst="rect">
            <a:avLst/>
          </a:prstGeom>
          <a:noFill/>
          <a:ln w="0">
            <a:noFill/>
          </a:ln>
        </p:spPr>
        <p:txBody>
          <a:bodyPr>
            <a:noAutofit/>
          </a:bodyPr>
          <a:lstStyle/>
          <a:p>
            <a:pPr>
              <a:defRPr sz="1875" b="0">
                <a:solidFill>
                  <a:srgbClr val="B4CECA"/>
                </a:solidFill>
                <a:latin typeface="Arial"/>
                <a:ea typeface="Arial"/>
                <a:cs typeface="Arial"/>
              </a:defRPr>
            </a:pPr>
            <a:r>
              <a:rPr sz="1875" b="0">
                <a:solidFill>
                  <a:srgbClr val="B4CECA"/>
                </a:solidFill>
                <a:latin typeface="Arial"/>
                <a:ea typeface="Arial"/>
                <a:cs typeface="Arial"/>
              </a:rPr>
              <a:t>Frecuencia e índice</a:t>
            </a:r>
          </a:p>
        </p:txBody>
      </p:sp>
      <p:sp>
        <p:nvSpPr>
          <p:cNvPr id="16" name="Rectángulo 15">
            <a:extLst>
              <a:ext uri="{FF2B5EF4-FFF2-40B4-BE49-F238E27FC236}">
                <a16:creationId xmlns:a16="http://schemas.microsoft.com/office/drawing/2014/main" id="{CBF7F078-BF80-4BB5-8074-2DD3507AFD29}"/>
              </a:ext>
            </a:extLst>
          </p:cNvPr>
          <p:cNvSpPr>
            <a:spLocks noGrp="1"/>
          </p:cNvSpPr>
          <p:nvPr/>
        </p:nvSpPr>
        <p:spPr>
          <a:xfrm>
            <a:off x="609600" y="4438650"/>
            <a:ext cx="10477500" cy="495300"/>
          </a:xfrm>
          <a:prstGeom prst="rect">
            <a:avLst/>
          </a:prstGeom>
          <a:noFill/>
          <a:ln w="0">
            <a:noFill/>
          </a:ln>
        </p:spPr>
        <p:txBody>
          <a:bodyPr>
            <a:noAutofit/>
          </a:bodyPr>
          <a:lstStyle/>
          <a:p>
            <a:pPr>
              <a:defRPr sz="2400" b="1">
                <a:solidFill>
                  <a:srgbClr val="67E5BA"/>
                </a:solidFill>
                <a:latin typeface="Arial"/>
                <a:ea typeface="Arial"/>
                <a:cs typeface="Arial"/>
              </a:defRPr>
            </a:pPr>
            <a:r>
              <a:rPr sz="2400" b="1">
                <a:solidFill>
                  <a:srgbClr val="67E5BA"/>
                </a:solidFill>
                <a:latin typeface="Arial"/>
                <a:ea typeface="Arial"/>
                <a:cs typeface="Arial"/>
              </a:rPr>
              <a:t>Comparación pareada con ensayos repetidos</a:t>
            </a:r>
          </a:p>
        </p:txBody>
      </p:sp>
      <p:sp>
        <p:nvSpPr>
          <p:cNvPr id="17" name="Rectángulo 16">
            <a:extLst>
              <a:ext uri="{FF2B5EF4-FFF2-40B4-BE49-F238E27FC236}">
                <a16:creationId xmlns:a16="http://schemas.microsoft.com/office/drawing/2014/main" id="{57F45C90-323B-45AE-B644-B6ACE7C4E32B}"/>
              </a:ext>
            </a:extLst>
          </p:cNvPr>
          <p:cNvSpPr>
            <a:spLocks noGrp="1"/>
          </p:cNvSpPr>
          <p:nvPr/>
        </p:nvSpPr>
        <p:spPr>
          <a:xfrm>
            <a:off x="609600" y="5057775"/>
            <a:ext cx="10572750" cy="762000"/>
          </a:xfrm>
          <a:prstGeom prst="rect">
            <a:avLst/>
          </a:prstGeom>
          <a:noFill/>
          <a:ln w="0">
            <a:noFill/>
          </a:ln>
        </p:spPr>
        <p:txBody>
          <a:bodyPr>
            <a:noAutofit/>
          </a:bodyPr>
          <a:lstStyle/>
          <a:p>
            <a:pPr>
              <a:defRPr sz="2175" b="0">
                <a:solidFill>
                  <a:srgbClr val="F3F8F7"/>
                </a:solidFill>
                <a:latin typeface="Arial"/>
                <a:ea typeface="Arial"/>
                <a:cs typeface="Arial"/>
              </a:defRPr>
            </a:pPr>
            <a:r>
              <a:rPr sz="2175" b="0">
                <a:solidFill>
                  <a:srgbClr val="F3F8F7"/>
                </a:solidFill>
                <a:latin typeface="Arial"/>
                <a:ea typeface="Arial"/>
                <a:cs typeface="Arial"/>
              </a:rPr>
              <a:t>Reportar diferencia e IC95 %, tamaño de efecto, error frente a una referencia y repetibilidad.</a:t>
            </a:r>
          </a:p>
        </p:txBody>
      </p:sp>
    </p:spTree>
    <p:extLst>
      <p:ext uri="{BB962C8B-B14F-4D97-AF65-F5344CB8AC3E}">
        <p14:creationId xmlns:p14="http://schemas.microsoft.com/office/powerpoint/2010/main" val="34849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DCF2F12B-AEEE-491F-B869-74DB6BDF5121}"/>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ODS, metas e indicadores oficiales</a:t>
            </a:r>
          </a:p>
        </p:txBody>
      </p:sp>
      <p:sp>
        <p:nvSpPr>
          <p:cNvPr id="2" name="Rectángulo 1">
            <a:extLst>
              <a:ext uri="{FF2B5EF4-FFF2-40B4-BE49-F238E27FC236}">
                <a16:creationId xmlns:a16="http://schemas.microsoft.com/office/drawing/2014/main" id="{EF87A206-8949-4E74-90A4-0B9586D93BE0}"/>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07</a:t>
            </a:r>
          </a:p>
        </p:txBody>
      </p:sp>
      <p:sp>
        <p:nvSpPr>
          <p:cNvPr id="3" name="Rectángulo 2">
            <a:extLst>
              <a:ext uri="{FF2B5EF4-FFF2-40B4-BE49-F238E27FC236}">
                <a16:creationId xmlns:a16="http://schemas.microsoft.com/office/drawing/2014/main" id="{2DCE6C37-BB53-41C4-A73F-42FF3333294A}"/>
              </a:ext>
            </a:extLst>
          </p:cNvPr>
          <p:cNvSpPr>
            <a:spLocks noGrp="1"/>
          </p:cNvSpPr>
          <p:nvPr/>
        </p:nvSpPr>
        <p:spPr>
          <a:xfrm>
            <a:off x="609600" y="6257925"/>
            <a:ext cx="10191750" cy="381000"/>
          </a:xfrm>
          <a:prstGeom prst="rect">
            <a:avLst/>
          </a:prstGeom>
          <a:noFill/>
          <a:ln w="0">
            <a:noFill/>
          </a:ln>
        </p:spPr>
        <p:txBody>
          <a:bodyPr>
            <a:noAutofit/>
          </a:bodyPr>
          <a:lstStyle/>
          <a:p>
            <a:pPr>
              <a:defRPr sz="1200" b="0">
                <a:solidFill>
                  <a:srgbClr val="B4CECA"/>
                </a:solidFill>
                <a:latin typeface="Arial"/>
                <a:ea typeface="Arial"/>
                <a:cs typeface="Arial"/>
              </a:defRPr>
            </a:pPr>
            <a:r>
              <a:rPr sz="1200" b="0">
                <a:solidFill>
                  <a:srgbClr val="B4CECA"/>
                </a:solidFill>
                <a:latin typeface="Arial"/>
                <a:ea typeface="Arial"/>
                <a:cs typeface="Arial"/>
              </a:rPr>
              <a:t>[7] Naciones Unidas. Repositorio de metadatos ODS. Consulta: 16 sep 2026.</a:t>
            </a:r>
          </a:p>
        </p:txBody>
      </p:sp>
      <p:graphicFrame>
        <p:nvGraphicFramePr>
          <p:cNvPr id="10" name="Tabla 9"/>
          <p:cNvGraphicFramePr/>
          <p:nvPr/>
        </p:nvGraphicFramePr>
        <p:xfrm>
          <a:off x="609600" y="1657350"/>
          <a:ext cx="10972800" cy="3562350"/>
        </p:xfrm>
        <a:graphic>
          <a:graphicData uri="http://schemas.openxmlformats.org/drawingml/2006/table">
            <a:tbl>
              <a:tblPr/>
              <a:tblGrid>
                <a:gridCol w="2619375">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32575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523875">
                <a:tc>
                  <a:txBody>
                    <a:bodyPr/>
                    <a:lstStyle/>
                    <a:p>
                      <a:r>
                        <a:rPr sz="1575" b="1">
                          <a:solidFill>
                            <a:srgbClr val="67E5BA"/>
                          </a:solidFill>
                          <a:latin typeface="Arial"/>
                          <a:ea typeface="Arial"/>
                          <a:cs typeface="Arial"/>
                        </a:rPr>
                        <a:t>ODS y rol</a:t>
                      </a:r>
                    </a:p>
                  </a:txBody>
                  <a:tcPr>
                    <a:solidFill>
                      <a:srgbClr val="17474C"/>
                    </a:solidFill>
                  </a:tcPr>
                </a:tc>
                <a:tc>
                  <a:txBody>
                    <a:bodyPr/>
                    <a:lstStyle/>
                    <a:p>
                      <a:r>
                        <a:rPr sz="1575" b="1">
                          <a:solidFill>
                            <a:srgbClr val="67E5BA"/>
                          </a:solidFill>
                          <a:latin typeface="Arial"/>
                          <a:ea typeface="Arial"/>
                          <a:cs typeface="Arial"/>
                        </a:rPr>
                        <a:t>Meta seleccionada¹</a:t>
                      </a:r>
                    </a:p>
                  </a:txBody>
                  <a:tcPr>
                    <a:solidFill>
                      <a:srgbClr val="17474C"/>
                    </a:solidFill>
                  </a:tcPr>
                </a:tc>
                <a:tc>
                  <a:txBody>
                    <a:bodyPr/>
                    <a:lstStyle/>
                    <a:p>
                      <a:r>
                        <a:rPr sz="1575" b="1">
                          <a:solidFill>
                            <a:srgbClr val="67E5BA"/>
                          </a:solidFill>
                          <a:latin typeface="Arial"/>
                          <a:ea typeface="Arial"/>
                          <a:cs typeface="Arial"/>
                        </a:rPr>
                        <a:t>Indicadores oficiales¹</a:t>
                      </a:r>
                    </a:p>
                  </a:txBody>
                  <a:tcPr>
                    <a:solidFill>
                      <a:srgbClr val="17474C"/>
                    </a:solidFill>
                  </a:tcPr>
                </a:tc>
                <a:tc>
                  <a:txBody>
                    <a:bodyPr/>
                    <a:lstStyle/>
                    <a:p>
                      <a:r>
                        <a:rPr sz="1575" b="1">
                          <a:solidFill>
                            <a:srgbClr val="67E5BA"/>
                          </a:solidFill>
                          <a:latin typeface="Arial"/>
                          <a:ea typeface="Arial"/>
                          <a:cs typeface="Arial"/>
                        </a:rPr>
                        <a:t>Relación con el proyecto</a:t>
                      </a:r>
                    </a:p>
                  </a:txBody>
                  <a:tcPr>
                    <a:solidFill>
                      <a:srgbClr val="17474C"/>
                    </a:solidFill>
                  </a:tcPr>
                </a:tc>
                <a:extLst>
                  <a:ext uri="{0D108BD9-81ED-4DB2-BD59-A6C34878D82A}">
                    <a16:rowId xmlns:a16="http://schemas.microsoft.com/office/drawing/2014/main" val="10000"/>
                  </a:ext>
                </a:extLst>
              </a:tr>
              <a:tr h="1012825">
                <a:tc>
                  <a:txBody>
                    <a:bodyPr/>
                    <a:lstStyle/>
                    <a:p>
                      <a:r>
                        <a:rPr sz="1575" b="0">
                          <a:solidFill>
                            <a:srgbClr val="F3F8F7"/>
                          </a:solidFill>
                          <a:latin typeface="Arial"/>
                          <a:ea typeface="Arial"/>
                          <a:cs typeface="Arial"/>
                        </a:rPr>
                        <a:t>3 · Salud y bienestar</a:t>
                      </a:r>
                    </a:p>
                    <a:p>
                      <a:r>
                        <a:rPr sz="1575" b="0">
                          <a:solidFill>
                            <a:srgbClr val="F3F8F7"/>
                          </a:solidFill>
                          <a:latin typeface="Arial"/>
                          <a:ea typeface="Arial"/>
                          <a:cs typeface="Arial"/>
                        </a:rPr>
                        <a:t>Principal</a:t>
                      </a:r>
                    </a:p>
                  </a:txBody>
                  <a:tcPr>
                    <a:solidFill>
                      <a:srgbClr val="09292E"/>
                    </a:solidFill>
                  </a:tcPr>
                </a:tc>
                <a:tc>
                  <a:txBody>
                    <a:bodyPr/>
                    <a:lstStyle/>
                    <a:p>
                      <a:r>
                        <a:rPr sz="1575" b="0">
                          <a:solidFill>
                            <a:srgbClr val="F3F8F7"/>
                          </a:solidFill>
                          <a:latin typeface="Arial"/>
                          <a:ea typeface="Arial"/>
                          <a:cs typeface="Arial"/>
                        </a:rPr>
                        <a:t>3.8</a:t>
                      </a:r>
                    </a:p>
                    <a:p>
                      <a:r>
                        <a:rPr sz="1575" b="0">
                          <a:solidFill>
                            <a:srgbClr val="F3F8F7"/>
                          </a:solidFill>
                          <a:latin typeface="Arial"/>
                          <a:ea typeface="Arial"/>
                          <a:cs typeface="Arial"/>
                        </a:rPr>
                        <a:t>Cobertura sanitaria universal</a:t>
                      </a:r>
                    </a:p>
                  </a:txBody>
                  <a:tcPr>
                    <a:solidFill>
                      <a:srgbClr val="09292E"/>
                    </a:solidFill>
                  </a:tcPr>
                </a:tc>
                <a:tc>
                  <a:txBody>
                    <a:bodyPr/>
                    <a:lstStyle/>
                    <a:p>
                      <a:r>
                        <a:rPr sz="1575" b="0">
                          <a:solidFill>
                            <a:srgbClr val="F3F8F7"/>
                          </a:solidFill>
                          <a:latin typeface="Arial"/>
                          <a:ea typeface="Arial"/>
                          <a:cs typeface="Arial"/>
                        </a:rPr>
                        <a:t>3.8.1</a:t>
                      </a:r>
                    </a:p>
                    <a:p>
                      <a:r>
                        <a:rPr sz="1575" b="0">
                          <a:solidFill>
                            <a:srgbClr val="F3F8F7"/>
                          </a:solidFill>
                          <a:latin typeface="Arial"/>
                          <a:ea typeface="Arial"/>
                          <a:cs typeface="Arial"/>
                        </a:rPr>
                        <a:t>Cobertura de servicios esenciales de salud</a:t>
                      </a:r>
                    </a:p>
                  </a:txBody>
                  <a:tcPr>
                    <a:solidFill>
                      <a:srgbClr val="09292E"/>
                    </a:solidFill>
                  </a:tcPr>
                </a:tc>
                <a:tc>
                  <a:txBody>
                    <a:bodyPr/>
                    <a:lstStyle/>
                    <a:p>
                      <a:r>
                        <a:rPr sz="1575" b="0">
                          <a:solidFill>
                            <a:srgbClr val="F3F8F7"/>
                          </a:solidFill>
                          <a:latin typeface="Arial"/>
                          <a:ea typeface="Arial"/>
                          <a:cs typeface="Arial"/>
                        </a:rPr>
                        <a:t>Potencial apoyo al registro del temblor</a:t>
                      </a:r>
                    </a:p>
                  </a:txBody>
                  <a:tcPr>
                    <a:solidFill>
                      <a:srgbClr val="09292E"/>
                    </a:solidFill>
                  </a:tcPr>
                </a:tc>
                <a:extLst>
                  <a:ext uri="{0D108BD9-81ED-4DB2-BD59-A6C34878D82A}">
                    <a16:rowId xmlns:a16="http://schemas.microsoft.com/office/drawing/2014/main" val="10001"/>
                  </a:ext>
                </a:extLst>
              </a:tr>
              <a:tr h="1012825">
                <a:tc>
                  <a:txBody>
                    <a:bodyPr/>
                    <a:lstStyle/>
                    <a:p>
                      <a:r>
                        <a:rPr sz="1575" b="0">
                          <a:solidFill>
                            <a:srgbClr val="F3F8F7"/>
                          </a:solidFill>
                          <a:latin typeface="Arial"/>
                          <a:ea typeface="Arial"/>
                          <a:cs typeface="Arial"/>
                        </a:rPr>
                        <a:t>9 · Industria, innovación e infraestructura</a:t>
                      </a:r>
                    </a:p>
                    <a:p>
                      <a:r>
                        <a:rPr sz="1575" b="0">
                          <a:solidFill>
                            <a:srgbClr val="F3F8F7"/>
                          </a:solidFill>
                          <a:latin typeface="Arial"/>
                          <a:ea typeface="Arial"/>
                          <a:cs typeface="Arial"/>
                        </a:rPr>
                        <a:t>Secundario</a:t>
                      </a:r>
                    </a:p>
                  </a:txBody>
                  <a:tcPr>
                    <a:solidFill>
                      <a:srgbClr val="09292E"/>
                    </a:solidFill>
                  </a:tcPr>
                </a:tc>
                <a:tc>
                  <a:txBody>
                    <a:bodyPr/>
                    <a:lstStyle/>
                    <a:p>
                      <a:r>
                        <a:rPr sz="1575" b="0">
                          <a:solidFill>
                            <a:srgbClr val="F3F8F7"/>
                          </a:solidFill>
                          <a:latin typeface="Arial"/>
                          <a:ea typeface="Arial"/>
                          <a:cs typeface="Arial"/>
                        </a:rPr>
                        <a:t>9.5</a:t>
                      </a:r>
                    </a:p>
                    <a:p>
                      <a:r>
                        <a:rPr sz="1575" b="0">
                          <a:solidFill>
                            <a:srgbClr val="F3F8F7"/>
                          </a:solidFill>
                          <a:latin typeface="Arial"/>
                          <a:ea typeface="Arial"/>
                          <a:cs typeface="Arial"/>
                        </a:rPr>
                        <a:t>Investigación y capacidad tecnológica</a:t>
                      </a:r>
                    </a:p>
                  </a:txBody>
                  <a:tcPr>
                    <a:solidFill>
                      <a:srgbClr val="09292E"/>
                    </a:solidFill>
                  </a:tcPr>
                </a:tc>
                <a:tc>
                  <a:txBody>
                    <a:bodyPr/>
                    <a:lstStyle/>
                    <a:p>
                      <a:r>
                        <a:rPr sz="1575" b="0">
                          <a:solidFill>
                            <a:srgbClr val="F3F8F7"/>
                          </a:solidFill>
                          <a:latin typeface="Arial"/>
                          <a:ea typeface="Arial"/>
                          <a:cs typeface="Arial"/>
                        </a:rPr>
                        <a:t>9.5.1: gasto en I+D / PIB</a:t>
                      </a:r>
                    </a:p>
                    <a:p>
                      <a:r>
                        <a:rPr sz="1575" b="0">
                          <a:solidFill>
                            <a:srgbClr val="F3F8F7"/>
                          </a:solidFill>
                          <a:latin typeface="Arial"/>
                          <a:ea typeface="Arial"/>
                          <a:cs typeface="Arial"/>
                        </a:rPr>
                        <a:t>9.5.2: investigadores por millón²</a:t>
                      </a:r>
                    </a:p>
                  </a:txBody>
                  <a:tcPr>
                    <a:solidFill>
                      <a:srgbClr val="09292E"/>
                    </a:solidFill>
                  </a:tcPr>
                </a:tc>
                <a:tc>
                  <a:txBody>
                    <a:bodyPr/>
                    <a:lstStyle/>
                    <a:p>
                      <a:r>
                        <a:rPr sz="1575" b="0">
                          <a:solidFill>
                            <a:srgbClr val="F3F8F7"/>
                          </a:solidFill>
                          <a:latin typeface="Arial"/>
                          <a:ea typeface="Arial"/>
                          <a:cs typeface="Arial"/>
                        </a:rPr>
                        <a:t>Prototipado y validación tecnológica</a:t>
                      </a:r>
                    </a:p>
                  </a:txBody>
                  <a:tcPr>
                    <a:solidFill>
                      <a:srgbClr val="09292E"/>
                    </a:solidFill>
                  </a:tcPr>
                </a:tc>
                <a:extLst>
                  <a:ext uri="{0D108BD9-81ED-4DB2-BD59-A6C34878D82A}">
                    <a16:rowId xmlns:a16="http://schemas.microsoft.com/office/drawing/2014/main" val="10002"/>
                  </a:ext>
                </a:extLst>
              </a:tr>
              <a:tr h="1012825">
                <a:tc>
                  <a:txBody>
                    <a:bodyPr/>
                    <a:lstStyle/>
                    <a:p>
                      <a:r>
                        <a:rPr sz="1575" b="0">
                          <a:solidFill>
                            <a:srgbClr val="F3F8F7"/>
                          </a:solidFill>
                          <a:latin typeface="Arial"/>
                          <a:ea typeface="Arial"/>
                          <a:cs typeface="Arial"/>
                        </a:rPr>
                        <a:t>10 · Reducción de las desigualdades</a:t>
                      </a:r>
                    </a:p>
                    <a:p>
                      <a:r>
                        <a:rPr sz="1575" b="0">
                          <a:solidFill>
                            <a:srgbClr val="F3F8F7"/>
                          </a:solidFill>
                          <a:latin typeface="Arial"/>
                          <a:ea typeface="Arial"/>
                          <a:cs typeface="Arial"/>
                        </a:rPr>
                        <a:t>Secundario indirecto</a:t>
                      </a:r>
                    </a:p>
                  </a:txBody>
                  <a:tcPr>
                    <a:solidFill>
                      <a:srgbClr val="09292E"/>
                    </a:solidFill>
                  </a:tcPr>
                </a:tc>
                <a:tc>
                  <a:txBody>
                    <a:bodyPr/>
                    <a:lstStyle/>
                    <a:p>
                      <a:r>
                        <a:rPr sz="1575" b="0">
                          <a:solidFill>
                            <a:srgbClr val="F3F8F7"/>
                          </a:solidFill>
                          <a:latin typeface="Arial"/>
                          <a:ea typeface="Arial"/>
                          <a:cs typeface="Arial"/>
                        </a:rPr>
                        <a:t>10.2</a:t>
                      </a:r>
                    </a:p>
                    <a:p>
                      <a:r>
                        <a:rPr sz="1575" b="0">
                          <a:solidFill>
                            <a:srgbClr val="F3F8F7"/>
                          </a:solidFill>
                          <a:latin typeface="Arial"/>
                          <a:ea typeface="Arial"/>
                          <a:cs typeface="Arial"/>
                        </a:rPr>
                        <a:t>Inclusión social, económica y política</a:t>
                      </a:r>
                    </a:p>
                  </a:txBody>
                  <a:tcPr>
                    <a:solidFill>
                      <a:srgbClr val="09292E"/>
                    </a:solidFill>
                  </a:tcPr>
                </a:tc>
                <a:tc>
                  <a:txBody>
                    <a:bodyPr/>
                    <a:lstStyle/>
                    <a:p>
                      <a:r>
                        <a:rPr sz="1575" b="0">
                          <a:solidFill>
                            <a:srgbClr val="F3F8F7"/>
                          </a:solidFill>
                          <a:latin typeface="Arial"/>
                          <a:ea typeface="Arial"/>
                          <a:cs typeface="Arial"/>
                        </a:rPr>
                        <a:t>10.2.1</a:t>
                      </a:r>
                    </a:p>
                    <a:p>
                      <a:r>
                        <a:rPr sz="1575" b="0">
                          <a:solidFill>
                            <a:srgbClr val="F3F8F7"/>
                          </a:solidFill>
                          <a:latin typeface="Arial"/>
                          <a:ea typeface="Arial"/>
                          <a:cs typeface="Arial"/>
                        </a:rPr>
                        <a:t>Población bajo el 50 % de la mediana de ingresos³</a:t>
                      </a:r>
                    </a:p>
                  </a:txBody>
                  <a:tcPr>
                    <a:solidFill>
                      <a:srgbClr val="09292E"/>
                    </a:solidFill>
                  </a:tcPr>
                </a:tc>
                <a:tc>
                  <a:txBody>
                    <a:bodyPr/>
                    <a:lstStyle/>
                    <a:p>
                      <a:r>
                        <a:rPr sz="1575" b="0">
                          <a:solidFill>
                            <a:srgbClr val="F3F8F7"/>
                          </a:solidFill>
                          <a:latin typeface="Arial"/>
                          <a:ea typeface="Arial"/>
                          <a:cs typeface="Arial"/>
                        </a:rPr>
                        <a:t>Accesibilidad económica como objetivo</a:t>
                      </a:r>
                    </a:p>
                  </a:txBody>
                  <a:tcPr>
                    <a:solidFill>
                      <a:srgbClr val="09292E"/>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92B19DB6-350B-4D5A-B549-DF2E8300D45E}"/>
              </a:ext>
            </a:extLst>
          </p:cNvPr>
          <p:cNvSpPr>
            <a:spLocks noGrp="1"/>
          </p:cNvSpPr>
          <p:nvPr/>
        </p:nvSpPr>
        <p:spPr>
          <a:xfrm>
            <a:off x="609600" y="5334000"/>
            <a:ext cx="10668000" cy="3810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¹ Formulaciones resumidas.  ² Equivalente a tiempo completo.  ³ Por sexo, edad y discapacidad.</a:t>
            </a:r>
          </a:p>
        </p:txBody>
      </p:sp>
      <p:sp>
        <p:nvSpPr>
          <p:cNvPr id="6" name="Rectángulo 5">
            <a:extLst>
              <a:ext uri="{FF2B5EF4-FFF2-40B4-BE49-F238E27FC236}">
                <a16:creationId xmlns:a16="http://schemas.microsoft.com/office/drawing/2014/main" id="{E8F88188-213F-4D6F-A20D-3C1A7044AC33}"/>
              </a:ext>
            </a:extLst>
          </p:cNvPr>
          <p:cNvSpPr>
            <a:spLocks noGrp="1"/>
          </p:cNvSpPr>
          <p:nvPr/>
        </p:nvSpPr>
        <p:spPr>
          <a:xfrm>
            <a:off x="609600" y="5743575"/>
            <a:ext cx="10668000" cy="457200"/>
          </a:xfrm>
          <a:prstGeom prst="rect">
            <a:avLst/>
          </a:prstGeom>
          <a:noFill/>
          <a:ln w="0">
            <a:noFill/>
          </a:ln>
        </p:spPr>
        <p:txBody>
          <a:bodyPr>
            <a:noAutofit/>
          </a:bodyPr>
          <a:lstStyle/>
          <a:p>
            <a:pPr>
              <a:defRPr sz="1875" b="0">
                <a:solidFill>
                  <a:srgbClr val="67E5BA"/>
                </a:solidFill>
                <a:latin typeface="Arial"/>
                <a:ea typeface="Arial"/>
                <a:cs typeface="Arial"/>
              </a:defRPr>
            </a:pPr>
            <a:r>
              <a:rPr sz="1875" b="0">
                <a:solidFill>
                  <a:srgbClr val="67E5BA"/>
                </a:solidFill>
                <a:latin typeface="Arial"/>
                <a:ea typeface="Arial"/>
                <a:cs typeface="Arial"/>
              </a:rPr>
              <a:t>Alineación potencial: el prototipo no mide ni demuestra cambios en estos indicadores oficiales.</a:t>
            </a:r>
          </a:p>
        </p:txBody>
      </p:sp>
    </p:spTree>
    <p:extLst>
      <p:ext uri="{BB962C8B-B14F-4D97-AF65-F5344CB8AC3E}">
        <p14:creationId xmlns:p14="http://schemas.microsoft.com/office/powerpoint/2010/main" val="1331738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78A75A5-A933-4C1D-A647-EA4C552F9D6D}"/>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a:solidFill>
                  <a:srgbClr val="F3F8F7"/>
                </a:solidFill>
                <a:latin typeface="Arial"/>
                <a:ea typeface="Arial"/>
                <a:cs typeface="Arial"/>
              </a:rPr>
              <a:t>Conclusiones y siguiente paso</a:t>
            </a:r>
          </a:p>
        </p:txBody>
      </p:sp>
      <p:sp>
        <p:nvSpPr>
          <p:cNvPr id="2" name="Rectángulo 1">
            <a:extLst>
              <a:ext uri="{FF2B5EF4-FFF2-40B4-BE49-F238E27FC236}">
                <a16:creationId xmlns:a16="http://schemas.microsoft.com/office/drawing/2014/main" id="{A9167758-392C-4631-A828-8232095498B8}"/>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08</a:t>
            </a:r>
          </a:p>
        </p:txBody>
      </p:sp>
      <p:sp>
        <p:nvSpPr>
          <p:cNvPr id="3" name="Rectángulo 2">
            <a:extLst>
              <a:ext uri="{FF2B5EF4-FFF2-40B4-BE49-F238E27FC236}">
                <a16:creationId xmlns:a16="http://schemas.microsoft.com/office/drawing/2014/main" id="{F0CE9D91-575C-41FB-885D-ED8CBDA0349E}"/>
              </a:ext>
            </a:extLst>
          </p:cNvPr>
          <p:cNvSpPr>
            <a:spLocks noGrp="1"/>
          </p:cNvSpPr>
          <p:nvPr/>
        </p:nvSpPr>
        <p:spPr>
          <a:xfrm>
            <a:off x="609600" y="1790700"/>
            <a:ext cx="10477500" cy="523875"/>
          </a:xfrm>
          <a:prstGeom prst="rect">
            <a:avLst/>
          </a:prstGeom>
          <a:noFill/>
          <a:ln w="0">
            <a:noFill/>
          </a:ln>
        </p:spPr>
        <p:txBody>
          <a:bodyPr>
            <a:noAutofit/>
          </a:bodyPr>
          <a:lstStyle/>
          <a:p>
            <a:pPr>
              <a:defRPr sz="2625" b="1">
                <a:solidFill>
                  <a:srgbClr val="67E5BA"/>
                </a:solidFill>
                <a:latin typeface="Arial"/>
                <a:ea typeface="Arial"/>
                <a:cs typeface="Arial"/>
              </a:defRPr>
            </a:pPr>
            <a:r>
              <a:rPr sz="2625" b="1">
                <a:solidFill>
                  <a:srgbClr val="67E5BA"/>
                </a:solidFill>
                <a:latin typeface="Arial"/>
                <a:ea typeface="Arial"/>
                <a:cs typeface="Arial"/>
              </a:rPr>
              <a:t>Una problemática con evidencia</a:t>
            </a:r>
          </a:p>
        </p:txBody>
      </p:sp>
      <p:sp>
        <p:nvSpPr>
          <p:cNvPr id="4" name="Rectángulo 3">
            <a:extLst>
              <a:ext uri="{FF2B5EF4-FFF2-40B4-BE49-F238E27FC236}">
                <a16:creationId xmlns:a16="http://schemas.microsoft.com/office/drawing/2014/main" id="{ED4338B3-6D73-4E7E-9667-0C4CA6F2442D}"/>
              </a:ext>
            </a:extLst>
          </p:cNvPr>
          <p:cNvSpPr>
            <a:spLocks noGrp="1"/>
          </p:cNvSpPr>
          <p:nvPr/>
        </p:nvSpPr>
        <p:spPr>
          <a:xfrm>
            <a:off x="609600" y="2457450"/>
            <a:ext cx="10287000" cy="800100"/>
          </a:xfrm>
          <a:prstGeom prst="rect">
            <a:avLst/>
          </a:prstGeom>
          <a:noFill/>
          <a:ln w="0">
            <a:noFill/>
          </a:ln>
        </p:spPr>
        <p:txBody>
          <a:bodyPr>
            <a:noAutofit/>
          </a:bodyPr>
          <a:lstStyle/>
          <a:p>
            <a:pPr>
              <a:defRPr sz="2325" b="0">
                <a:solidFill>
                  <a:srgbClr val="F3F8F7"/>
                </a:solidFill>
                <a:latin typeface="Arial"/>
                <a:ea typeface="Arial"/>
                <a:cs typeface="Arial"/>
              </a:defRPr>
            </a:pPr>
            <a:r>
              <a:rPr sz="2325" b="0">
                <a:solidFill>
                  <a:srgbClr val="F3F8F7"/>
                </a:solidFill>
                <a:latin typeface="Arial"/>
                <a:ea typeface="Arial"/>
                <a:cs typeface="Arial"/>
              </a:rPr>
              <a:t>La carga mundial y la evidencia local justifican estudiar herramientas de monitoreo del temblor.</a:t>
            </a:r>
          </a:p>
        </p:txBody>
      </p:sp>
      <p:sp>
        <p:nvSpPr>
          <p:cNvPr id="5" name="Rectángulo 4">
            <a:extLst>
              <a:ext uri="{FF2B5EF4-FFF2-40B4-BE49-F238E27FC236}">
                <a16:creationId xmlns:a16="http://schemas.microsoft.com/office/drawing/2014/main" id="{C913857B-B7A6-4944-9B49-E527DDD34292}"/>
              </a:ext>
            </a:extLst>
          </p:cNvPr>
          <p:cNvSpPr>
            <a:spLocks noGrp="1"/>
          </p:cNvSpPr>
          <p:nvPr/>
        </p:nvSpPr>
        <p:spPr>
          <a:xfrm>
            <a:off x="609600" y="3619500"/>
            <a:ext cx="10477500" cy="523875"/>
          </a:xfrm>
          <a:prstGeom prst="rect">
            <a:avLst/>
          </a:prstGeom>
          <a:noFill/>
          <a:ln w="0">
            <a:noFill/>
          </a:ln>
        </p:spPr>
        <p:txBody>
          <a:bodyPr>
            <a:noAutofit/>
          </a:bodyPr>
          <a:lstStyle/>
          <a:p>
            <a:pPr>
              <a:defRPr sz="2625" b="1">
                <a:solidFill>
                  <a:srgbClr val="67E5BA"/>
                </a:solidFill>
                <a:latin typeface="Arial"/>
                <a:ea typeface="Arial"/>
                <a:cs typeface="Arial"/>
              </a:defRPr>
            </a:pPr>
            <a:r>
              <a:rPr sz="2625" b="1">
                <a:solidFill>
                  <a:srgbClr val="67E5BA"/>
                </a:solidFill>
                <a:latin typeface="Arial"/>
                <a:ea typeface="Arial"/>
                <a:cs typeface="Arial"/>
              </a:rPr>
              <a:t>Un alcance experimental definido</a:t>
            </a:r>
          </a:p>
        </p:txBody>
      </p:sp>
      <p:sp>
        <p:nvSpPr>
          <p:cNvPr id="6" name="Rectángulo 5">
            <a:extLst>
              <a:ext uri="{FF2B5EF4-FFF2-40B4-BE49-F238E27FC236}">
                <a16:creationId xmlns:a16="http://schemas.microsoft.com/office/drawing/2014/main" id="{2E27E49E-810F-4881-8C3A-451190FD82AA}"/>
              </a:ext>
            </a:extLst>
          </p:cNvPr>
          <p:cNvSpPr>
            <a:spLocks noGrp="1"/>
          </p:cNvSpPr>
          <p:nvPr/>
        </p:nvSpPr>
        <p:spPr>
          <a:xfrm>
            <a:off x="609600" y="4267200"/>
            <a:ext cx="10287000" cy="800100"/>
          </a:xfrm>
          <a:prstGeom prst="rect">
            <a:avLst/>
          </a:prstGeom>
          <a:noFill/>
          <a:ln w="0">
            <a:noFill/>
          </a:ln>
        </p:spPr>
        <p:txBody>
          <a:bodyPr>
            <a:noAutofit/>
          </a:bodyPr>
          <a:lstStyle/>
          <a:p>
            <a:pPr>
              <a:defRPr sz="2325" b="0">
                <a:solidFill>
                  <a:srgbClr val="F3F8F7"/>
                </a:solidFill>
                <a:latin typeface="Arial"/>
                <a:ea typeface="Arial"/>
                <a:cs typeface="Arial"/>
              </a:defRPr>
            </a:pPr>
            <a:r>
              <a:rPr sz="2325" b="0">
                <a:solidFill>
                  <a:srgbClr val="F3F8F7"/>
                </a:solidFill>
                <a:latin typeface="Arial"/>
                <a:ea typeface="Arial"/>
                <a:cs typeface="Arial"/>
              </a:rPr>
              <a:t>La propuesta integra medición inercial y una respuesta mecánica que todavía requiere validación.</a:t>
            </a:r>
          </a:p>
        </p:txBody>
      </p:sp>
      <p:sp>
        <p:nvSpPr>
          <p:cNvPr id="7" name="Rectángulo 6">
            <a:extLst>
              <a:ext uri="{FF2B5EF4-FFF2-40B4-BE49-F238E27FC236}">
                <a16:creationId xmlns:a16="http://schemas.microsoft.com/office/drawing/2014/main" id="{3F1ADFC9-C863-4B20-B203-8A4A0E64465F}"/>
              </a:ext>
            </a:extLst>
          </p:cNvPr>
          <p:cNvSpPr>
            <a:spLocks noGrp="1"/>
          </p:cNvSpPr>
          <p:nvPr/>
        </p:nvSpPr>
        <p:spPr>
          <a:xfrm>
            <a:off x="609600" y="5486400"/>
            <a:ext cx="10382250" cy="523875"/>
          </a:xfrm>
          <a:prstGeom prst="rect">
            <a:avLst/>
          </a:prstGeom>
          <a:noFill/>
          <a:ln w="0">
            <a:noFill/>
          </a:ln>
        </p:spPr>
        <p:txBody>
          <a:bodyPr>
            <a:noAutofit/>
          </a:bodyPr>
          <a:lstStyle/>
          <a:p>
            <a:pPr>
              <a:defRPr sz="2250" b="1">
                <a:solidFill>
                  <a:srgbClr val="67E5BA"/>
                </a:solidFill>
                <a:latin typeface="Arial"/>
                <a:ea typeface="Arial"/>
                <a:cs typeface="Arial"/>
              </a:defRPr>
            </a:pPr>
            <a:r>
              <a:rPr sz="2250" b="1">
                <a:solidFill>
                  <a:srgbClr val="67E5BA"/>
                </a:solidFill>
                <a:latin typeface="Arial"/>
                <a:ea typeface="Arial"/>
                <a:cs typeface="Arial"/>
              </a:rPr>
              <a:t>Siguiente paso: fijar requisitos medibles y ejecutar el piloto técnico.</a:t>
            </a:r>
          </a:p>
        </p:txBody>
      </p:sp>
    </p:spTree>
    <p:extLst>
      <p:ext uri="{BB962C8B-B14F-4D97-AF65-F5344CB8AC3E}">
        <p14:creationId xmlns:p14="http://schemas.microsoft.com/office/powerpoint/2010/main" val="1037202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C4AE9E6F-3619-40FF-B515-95766759C36B}"/>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dirty="0" err="1">
                <a:solidFill>
                  <a:srgbClr val="F3F8F7"/>
                </a:solidFill>
                <a:latin typeface="Arial"/>
                <a:ea typeface="Arial"/>
                <a:cs typeface="Arial"/>
              </a:rPr>
              <a:t>Referencias</a:t>
            </a:r>
            <a:r>
              <a:rPr sz="3300" b="1" dirty="0">
                <a:solidFill>
                  <a:srgbClr val="F3F8F7"/>
                </a:solidFill>
                <a:latin typeface="Arial"/>
                <a:ea typeface="Arial"/>
                <a:cs typeface="Arial"/>
              </a:rPr>
              <a:t> </a:t>
            </a:r>
            <a:endParaRPr lang="es-US" sz="3300" b="1" dirty="0">
              <a:solidFill>
                <a:srgbClr val="F3F8F7"/>
              </a:solidFill>
              <a:latin typeface="Arial"/>
              <a:ea typeface="Arial"/>
              <a:cs typeface="Arial"/>
            </a:endParaRPr>
          </a:p>
          <a:p>
            <a:pPr>
              <a:defRPr sz="3300" b="1">
                <a:solidFill>
                  <a:srgbClr val="F3F8F7"/>
                </a:solidFill>
                <a:latin typeface="Arial"/>
                <a:ea typeface="Arial"/>
                <a:cs typeface="Arial"/>
              </a:defRPr>
            </a:pPr>
            <a:endParaRPr sz="3300" b="1" dirty="0">
              <a:solidFill>
                <a:srgbClr val="F3F8F7"/>
              </a:solidFill>
              <a:latin typeface="Arial"/>
              <a:ea typeface="Arial"/>
              <a:cs typeface="Arial"/>
            </a:endParaRPr>
          </a:p>
        </p:txBody>
      </p:sp>
      <p:sp>
        <p:nvSpPr>
          <p:cNvPr id="2" name="Rectángulo 1">
            <a:extLst>
              <a:ext uri="{FF2B5EF4-FFF2-40B4-BE49-F238E27FC236}">
                <a16:creationId xmlns:a16="http://schemas.microsoft.com/office/drawing/2014/main" id="{0072E46D-FCE9-4EB8-95C1-E9A8E1BE2FE7}"/>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09</a:t>
            </a:r>
          </a:p>
        </p:txBody>
      </p:sp>
      <p:sp>
        <p:nvSpPr>
          <p:cNvPr id="4" name="Rectángulo 3">
            <a:extLst>
              <a:ext uri="{FF2B5EF4-FFF2-40B4-BE49-F238E27FC236}">
                <a16:creationId xmlns:a16="http://schemas.microsoft.com/office/drawing/2014/main" id="{134C44AF-2F66-4DA2-AEA2-4AC4A541284F}"/>
              </a:ext>
            </a:extLst>
          </p:cNvPr>
          <p:cNvSpPr>
            <a:spLocks noGrp="1"/>
          </p:cNvSpPr>
          <p:nvPr/>
        </p:nvSpPr>
        <p:spPr>
          <a:xfrm>
            <a:off x="609600" y="1562100"/>
            <a:ext cx="10972800" cy="828675"/>
          </a:xfrm>
          <a:prstGeom prst="rect">
            <a:avLst/>
          </a:prstGeom>
          <a:noFill/>
          <a:ln w="0">
            <a:noFill/>
          </a:ln>
        </p:spPr>
        <p:txBody>
          <a:bodyPr>
            <a:noAutofit/>
          </a:bodyPr>
          <a:lstStyle/>
          <a:p>
            <a:pPr>
              <a:defRPr sz="1800" b="0">
                <a:solidFill>
                  <a:srgbClr val="F3F8F7"/>
                </a:solidFill>
                <a:latin typeface="Arial"/>
                <a:ea typeface="Arial"/>
                <a:cs typeface="Arial"/>
              </a:defRPr>
            </a:pPr>
            <a:r>
              <a:rPr sz="1800" b="0">
                <a:solidFill>
                  <a:srgbClr val="F3F8F7"/>
                </a:solidFill>
                <a:latin typeface="Arial"/>
                <a:ea typeface="Arial"/>
                <a:cs typeface="Arial"/>
              </a:rPr>
              <a:t>1. World Health Organization. Parkinson disease [Internet]. Geneva: World Health Organization; 2023 Aug 9 [citado 16 sep 2026].</a:t>
            </a:r>
          </a:p>
        </p:txBody>
      </p:sp>
      <p:sp>
        <p:nvSpPr>
          <p:cNvPr id="5" name="Rectángulo 4">
            <a:extLst>
              <a:ext uri="{FF2B5EF4-FFF2-40B4-BE49-F238E27FC236}">
                <a16:creationId xmlns:a16="http://schemas.microsoft.com/office/drawing/2014/main" id="{D6FDDF35-D7AD-45B8-A3B6-C3379A0EAE3D}"/>
              </a:ext>
            </a:extLst>
          </p:cNvPr>
          <p:cNvSpPr>
            <a:spLocks noGrp="1"/>
          </p:cNvSpPr>
          <p:nvPr/>
        </p:nvSpPr>
        <p:spPr>
          <a:xfrm>
            <a:off x="609600" y="2409825"/>
            <a:ext cx="10972800" cy="314325"/>
          </a:xfrm>
          <a:prstGeom prst="rect">
            <a:avLst/>
          </a:prstGeom>
          <a:noFill/>
          <a:ln w="0">
            <a:noFill/>
          </a:ln>
        </p:spPr>
        <p:txBody>
          <a:bodyPr>
            <a:noAutofit/>
          </a:bodyPr>
          <a:lstStyle/>
          <a:p>
            <a:pPr>
              <a:defRPr sz="1650" b="0">
                <a:solidFill>
                  <a:srgbClr val="67E5BA"/>
                </a:solidFill>
                <a:latin typeface="Arial"/>
                <a:ea typeface="Arial"/>
                <a:cs typeface="Arial"/>
              </a:defRPr>
            </a:pPr>
            <a:r>
              <a:rPr>
                <a:hlinkClick r:id="rId3"/>
              </a:rPr>
              <a:t>Disponible en: OMS: Parkinson disease</a:t>
            </a:r>
          </a:p>
        </p:txBody>
      </p:sp>
      <p:sp>
        <p:nvSpPr>
          <p:cNvPr id="6" name="Rectángulo 5">
            <a:extLst>
              <a:ext uri="{FF2B5EF4-FFF2-40B4-BE49-F238E27FC236}">
                <a16:creationId xmlns:a16="http://schemas.microsoft.com/office/drawing/2014/main" id="{FB79C073-2901-4586-9686-5758098041EB}"/>
              </a:ext>
            </a:extLst>
          </p:cNvPr>
          <p:cNvSpPr>
            <a:spLocks noGrp="1"/>
          </p:cNvSpPr>
          <p:nvPr/>
        </p:nvSpPr>
        <p:spPr>
          <a:xfrm>
            <a:off x="609600" y="2924175"/>
            <a:ext cx="10972800" cy="1114425"/>
          </a:xfrm>
          <a:prstGeom prst="rect">
            <a:avLst/>
          </a:prstGeom>
          <a:noFill/>
          <a:ln w="0">
            <a:noFill/>
          </a:ln>
        </p:spPr>
        <p:txBody>
          <a:bodyPr>
            <a:noAutofit/>
          </a:bodyPr>
          <a:lstStyle/>
          <a:p>
            <a:pPr>
              <a:defRPr sz="1800" b="0">
                <a:solidFill>
                  <a:srgbClr val="F3F8F7"/>
                </a:solidFill>
                <a:latin typeface="Arial"/>
                <a:ea typeface="Arial"/>
                <a:cs typeface="Arial"/>
              </a:defRPr>
            </a:pPr>
            <a:r>
              <a:rPr sz="1800" b="0">
                <a:solidFill>
                  <a:srgbClr val="F3F8F7"/>
                </a:solidFill>
                <a:latin typeface="Arial"/>
                <a:ea typeface="Arial"/>
                <a:cs typeface="Arial"/>
              </a:rPr>
              <a:t>2. World Health Organization. Over 1 in 3 people affected by neurological conditions, the leading cause of illness and disability worldwide [Internet]. Geneva: World Health Organization; 2024 Mar 14 [citado 16 sep 2026].</a:t>
            </a:r>
          </a:p>
        </p:txBody>
      </p:sp>
      <p:sp>
        <p:nvSpPr>
          <p:cNvPr id="7" name="Rectángulo 6">
            <a:extLst>
              <a:ext uri="{FF2B5EF4-FFF2-40B4-BE49-F238E27FC236}">
                <a16:creationId xmlns:a16="http://schemas.microsoft.com/office/drawing/2014/main" id="{5C4B8970-2EF6-424B-A514-358341A85DD7}"/>
              </a:ext>
            </a:extLst>
          </p:cNvPr>
          <p:cNvSpPr>
            <a:spLocks noGrp="1"/>
          </p:cNvSpPr>
          <p:nvPr/>
        </p:nvSpPr>
        <p:spPr>
          <a:xfrm>
            <a:off x="609600" y="4057650"/>
            <a:ext cx="10972800" cy="314325"/>
          </a:xfrm>
          <a:prstGeom prst="rect">
            <a:avLst/>
          </a:prstGeom>
          <a:noFill/>
          <a:ln w="0">
            <a:noFill/>
          </a:ln>
        </p:spPr>
        <p:txBody>
          <a:bodyPr>
            <a:noAutofit/>
          </a:bodyPr>
          <a:lstStyle/>
          <a:p>
            <a:pPr>
              <a:defRPr sz="1650" b="0">
                <a:solidFill>
                  <a:srgbClr val="67E5BA"/>
                </a:solidFill>
                <a:latin typeface="Arial"/>
                <a:ea typeface="Arial"/>
                <a:cs typeface="Arial"/>
              </a:defRPr>
            </a:pPr>
            <a:r>
              <a:rPr>
                <a:hlinkClick r:id="rId4"/>
              </a:rPr>
              <a:t>Disponible en: OMS: comunicado del 14 de marzo de 2024</a:t>
            </a:r>
          </a:p>
        </p:txBody>
      </p:sp>
      <p:sp>
        <p:nvSpPr>
          <p:cNvPr id="8" name="Rectángulo 7">
            <a:extLst>
              <a:ext uri="{FF2B5EF4-FFF2-40B4-BE49-F238E27FC236}">
                <a16:creationId xmlns:a16="http://schemas.microsoft.com/office/drawing/2014/main" id="{DB5C485C-E647-4A1B-A647-735C5B7CB31B}"/>
              </a:ext>
            </a:extLst>
          </p:cNvPr>
          <p:cNvSpPr>
            <a:spLocks noGrp="1"/>
          </p:cNvSpPr>
          <p:nvPr/>
        </p:nvSpPr>
        <p:spPr>
          <a:xfrm>
            <a:off x="609600" y="4629150"/>
            <a:ext cx="10972800" cy="1114425"/>
          </a:xfrm>
          <a:prstGeom prst="rect">
            <a:avLst/>
          </a:prstGeom>
          <a:noFill/>
          <a:ln w="0">
            <a:noFill/>
          </a:ln>
        </p:spPr>
        <p:txBody>
          <a:bodyPr>
            <a:noAutofit/>
          </a:bodyPr>
          <a:lstStyle/>
          <a:p>
            <a:pPr>
              <a:defRPr sz="1800" b="0">
                <a:solidFill>
                  <a:srgbClr val="F3F8F7"/>
                </a:solidFill>
                <a:latin typeface="Arial"/>
                <a:ea typeface="Arial"/>
                <a:cs typeface="Arial"/>
              </a:defRPr>
            </a:pPr>
            <a:r>
              <a:rPr sz="1800" b="0">
                <a:solidFill>
                  <a:srgbClr val="F3F8F7"/>
                </a:solidFill>
                <a:latin typeface="Arial"/>
                <a:ea typeface="Arial"/>
                <a:cs typeface="Arial"/>
              </a:rPr>
              <a:t>3. Bernabe-Ortiz A, Carrillo-Larco RM. Estimating the prevalence, factors, and conditions associated with Parkinson disease: a population-based study in Peru. Cad Saude Publica. 2024;40(9):e00011324.</a:t>
            </a:r>
          </a:p>
        </p:txBody>
      </p:sp>
      <p:sp>
        <p:nvSpPr>
          <p:cNvPr id="9" name="Rectángulo 8">
            <a:extLst>
              <a:ext uri="{FF2B5EF4-FFF2-40B4-BE49-F238E27FC236}">
                <a16:creationId xmlns:a16="http://schemas.microsoft.com/office/drawing/2014/main" id="{0105996C-1A2D-49AB-9E5E-A6EDD8DE15E0}"/>
              </a:ext>
            </a:extLst>
          </p:cNvPr>
          <p:cNvSpPr>
            <a:spLocks noGrp="1"/>
          </p:cNvSpPr>
          <p:nvPr/>
        </p:nvSpPr>
        <p:spPr>
          <a:xfrm>
            <a:off x="609600" y="5762625"/>
            <a:ext cx="10972800" cy="314325"/>
          </a:xfrm>
          <a:prstGeom prst="rect">
            <a:avLst/>
          </a:prstGeom>
          <a:noFill/>
          <a:ln w="0">
            <a:noFill/>
          </a:ln>
        </p:spPr>
        <p:txBody>
          <a:bodyPr>
            <a:noAutofit/>
          </a:bodyPr>
          <a:lstStyle/>
          <a:p>
            <a:pPr>
              <a:defRPr sz="1650" b="0">
                <a:solidFill>
                  <a:srgbClr val="67E5BA"/>
                </a:solidFill>
                <a:latin typeface="Arial"/>
                <a:ea typeface="Arial"/>
                <a:cs typeface="Arial"/>
              </a:defRPr>
            </a:pPr>
            <a:r>
              <a:rPr>
                <a:hlinkClick r:id="rId5"/>
              </a:rPr>
              <a:t>doi: 10.1590/0102-311XEN011324</a:t>
            </a:r>
          </a:p>
        </p:txBody>
      </p:sp>
    </p:spTree>
    <p:extLst>
      <p:ext uri="{BB962C8B-B14F-4D97-AF65-F5344CB8AC3E}">
        <p14:creationId xmlns:p14="http://schemas.microsoft.com/office/powerpoint/2010/main" val="548605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9292E"/>
        </a:solidFill>
        <a:effectLst/>
      </p:bgPr>
    </p:bg>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60D7322A-9D04-4445-8CD4-4A0C1E9E588A}"/>
              </a:ext>
            </a:extLst>
          </p:cNvPr>
          <p:cNvSpPr>
            <a:spLocks noGrp="1"/>
          </p:cNvSpPr>
          <p:nvPr/>
        </p:nvSpPr>
        <p:spPr>
          <a:xfrm>
            <a:off x="609600" y="457200"/>
            <a:ext cx="10906125" cy="1000125"/>
          </a:xfrm>
          <a:prstGeom prst="rect">
            <a:avLst/>
          </a:prstGeom>
          <a:noFill/>
          <a:ln w="0">
            <a:noFill/>
          </a:ln>
        </p:spPr>
        <p:txBody>
          <a:bodyPr>
            <a:noAutofit/>
          </a:bodyPr>
          <a:lstStyle/>
          <a:p>
            <a:pPr>
              <a:defRPr sz="3300" b="1">
                <a:solidFill>
                  <a:srgbClr val="F3F8F7"/>
                </a:solidFill>
                <a:latin typeface="Arial"/>
                <a:ea typeface="Arial"/>
                <a:cs typeface="Arial"/>
              </a:defRPr>
            </a:pPr>
            <a:r>
              <a:rPr sz="3300" b="1" dirty="0" err="1">
                <a:solidFill>
                  <a:srgbClr val="F3F8F7"/>
                </a:solidFill>
                <a:latin typeface="Arial"/>
                <a:ea typeface="Arial"/>
                <a:cs typeface="Arial"/>
              </a:rPr>
              <a:t>Referencias</a:t>
            </a:r>
            <a:r>
              <a:rPr sz="3300" b="1" dirty="0">
                <a:solidFill>
                  <a:srgbClr val="F3F8F7"/>
                </a:solidFill>
                <a:latin typeface="Arial"/>
                <a:ea typeface="Arial"/>
                <a:cs typeface="Arial"/>
              </a:rPr>
              <a:t> </a:t>
            </a:r>
            <a:endParaRPr lang="es-US" sz="3300" b="1" dirty="0">
              <a:solidFill>
                <a:srgbClr val="F3F8F7"/>
              </a:solidFill>
              <a:latin typeface="Arial"/>
              <a:ea typeface="Arial"/>
              <a:cs typeface="Arial"/>
            </a:endParaRPr>
          </a:p>
          <a:p>
            <a:pPr>
              <a:defRPr sz="3300" b="1">
                <a:solidFill>
                  <a:srgbClr val="F3F8F7"/>
                </a:solidFill>
                <a:latin typeface="Arial"/>
                <a:ea typeface="Arial"/>
                <a:cs typeface="Arial"/>
              </a:defRPr>
            </a:pPr>
            <a:endParaRPr sz="3300" b="1" dirty="0">
              <a:solidFill>
                <a:srgbClr val="F3F8F7"/>
              </a:solidFill>
              <a:latin typeface="Arial"/>
              <a:ea typeface="Arial"/>
              <a:cs typeface="Arial"/>
            </a:endParaRPr>
          </a:p>
        </p:txBody>
      </p:sp>
      <p:sp>
        <p:nvSpPr>
          <p:cNvPr id="2" name="Rectángulo 1">
            <a:extLst>
              <a:ext uri="{FF2B5EF4-FFF2-40B4-BE49-F238E27FC236}">
                <a16:creationId xmlns:a16="http://schemas.microsoft.com/office/drawing/2014/main" id="{C5D74FA4-B0C3-4E01-AE54-465613BE9B85}"/>
              </a:ext>
            </a:extLst>
          </p:cNvPr>
          <p:cNvSpPr>
            <a:spLocks noGrp="1"/>
          </p:cNvSpPr>
          <p:nvPr/>
        </p:nvSpPr>
        <p:spPr>
          <a:xfrm>
            <a:off x="11087100" y="6276975"/>
            <a:ext cx="523875" cy="304800"/>
          </a:xfrm>
          <a:prstGeom prst="rect">
            <a:avLst/>
          </a:prstGeom>
          <a:noFill/>
          <a:ln w="0">
            <a:noFill/>
          </a:ln>
        </p:spPr>
        <p:txBody>
          <a:bodyPr>
            <a:noAutofit/>
          </a:bodyPr>
          <a:lstStyle/>
          <a:p>
            <a:pPr>
              <a:defRPr sz="1350" b="0">
                <a:solidFill>
                  <a:srgbClr val="B4CECA"/>
                </a:solidFill>
                <a:latin typeface="Arial"/>
                <a:ea typeface="Arial"/>
                <a:cs typeface="Arial"/>
              </a:defRPr>
            </a:pPr>
            <a:r>
              <a:rPr sz="1350" b="0">
                <a:solidFill>
                  <a:srgbClr val="B4CECA"/>
                </a:solidFill>
                <a:latin typeface="Arial"/>
                <a:ea typeface="Arial"/>
                <a:cs typeface="Arial"/>
              </a:rPr>
              <a:t>10</a:t>
            </a:r>
          </a:p>
        </p:txBody>
      </p:sp>
      <p:sp>
        <p:nvSpPr>
          <p:cNvPr id="4" name="Rectángulo 3">
            <a:extLst>
              <a:ext uri="{FF2B5EF4-FFF2-40B4-BE49-F238E27FC236}">
                <a16:creationId xmlns:a16="http://schemas.microsoft.com/office/drawing/2014/main" id="{3CE63FA9-A61F-42FA-AE8F-1291E70D3565}"/>
              </a:ext>
            </a:extLst>
          </p:cNvPr>
          <p:cNvSpPr>
            <a:spLocks noGrp="1"/>
          </p:cNvSpPr>
          <p:nvPr/>
        </p:nvSpPr>
        <p:spPr>
          <a:xfrm>
            <a:off x="609600" y="1409700"/>
            <a:ext cx="10972800" cy="1238250"/>
          </a:xfrm>
          <a:prstGeom prst="rect">
            <a:avLst/>
          </a:prstGeom>
          <a:noFill/>
          <a:ln w="0">
            <a:noFill/>
          </a:ln>
        </p:spPr>
        <p:txBody>
          <a:bodyPr>
            <a:noAutofit/>
          </a:bodyPr>
          <a:lstStyle/>
          <a:p>
            <a:pPr>
              <a:defRPr sz="1575" b="0">
                <a:solidFill>
                  <a:srgbClr val="F3F8F7"/>
                </a:solidFill>
                <a:latin typeface="Arial"/>
                <a:ea typeface="Arial"/>
                <a:cs typeface="Arial"/>
              </a:defRPr>
            </a:pPr>
            <a:r>
              <a:rPr sz="1575" b="0">
                <a:solidFill>
                  <a:srgbClr val="F3F8F7"/>
                </a:solidFill>
                <a:latin typeface="Arial"/>
                <a:ea typeface="Arial"/>
                <a:cs typeface="Arial"/>
              </a:rPr>
              <a:t>4. Singh J, Mandal P, Singh-Miller N, Sharma P, inventores. Innovative kit that includes a wearable for detecting, characterizing, and monitoring involuntary movement and attachable non-intrusive interventions to relieve tremors in human limbs. Solicitud de patente estadounidense US20220322970A1 [Internet]. 2022 Oct 13 [citado 16 sep 2026].</a:t>
            </a:r>
          </a:p>
        </p:txBody>
      </p:sp>
      <p:sp>
        <p:nvSpPr>
          <p:cNvPr id="5" name="Rectángulo 4">
            <a:extLst>
              <a:ext uri="{FF2B5EF4-FFF2-40B4-BE49-F238E27FC236}">
                <a16:creationId xmlns:a16="http://schemas.microsoft.com/office/drawing/2014/main" id="{51844608-B22C-47F8-89F0-A5C9D3B3E2E0}"/>
              </a:ext>
            </a:extLst>
          </p:cNvPr>
          <p:cNvSpPr>
            <a:spLocks noGrp="1"/>
          </p:cNvSpPr>
          <p:nvPr/>
        </p:nvSpPr>
        <p:spPr>
          <a:xfrm>
            <a:off x="609600" y="2667000"/>
            <a:ext cx="10972800" cy="314325"/>
          </a:xfrm>
          <a:prstGeom prst="rect">
            <a:avLst/>
          </a:prstGeom>
          <a:noFill/>
          <a:ln w="0">
            <a:noFill/>
          </a:ln>
        </p:spPr>
        <p:txBody>
          <a:bodyPr>
            <a:noAutofit/>
          </a:bodyPr>
          <a:lstStyle/>
          <a:p>
            <a:pPr>
              <a:defRPr sz="1425" b="0">
                <a:solidFill>
                  <a:srgbClr val="67E5BA"/>
                </a:solidFill>
                <a:latin typeface="Arial"/>
                <a:ea typeface="Arial"/>
                <a:cs typeface="Arial"/>
              </a:defRPr>
            </a:pPr>
            <a:r>
              <a:rPr>
                <a:hlinkClick r:id="rId3"/>
              </a:rPr>
              <a:t>Disponible en: patents.google.com/patent/US20220322970A1/en</a:t>
            </a:r>
          </a:p>
        </p:txBody>
      </p:sp>
      <p:sp>
        <p:nvSpPr>
          <p:cNvPr id="6" name="Rectángulo 5">
            <a:extLst>
              <a:ext uri="{FF2B5EF4-FFF2-40B4-BE49-F238E27FC236}">
                <a16:creationId xmlns:a16="http://schemas.microsoft.com/office/drawing/2014/main" id="{D41ECFA1-75CA-4A92-8CB9-62A446857431}"/>
              </a:ext>
            </a:extLst>
          </p:cNvPr>
          <p:cNvSpPr>
            <a:spLocks noGrp="1"/>
          </p:cNvSpPr>
          <p:nvPr/>
        </p:nvSpPr>
        <p:spPr>
          <a:xfrm>
            <a:off x="609600" y="3133725"/>
            <a:ext cx="10972800" cy="733425"/>
          </a:xfrm>
          <a:prstGeom prst="rect">
            <a:avLst/>
          </a:prstGeom>
          <a:noFill/>
          <a:ln w="0">
            <a:noFill/>
          </a:ln>
        </p:spPr>
        <p:txBody>
          <a:bodyPr>
            <a:noAutofit/>
          </a:bodyPr>
          <a:lstStyle/>
          <a:p>
            <a:pPr>
              <a:defRPr sz="1575" b="0">
                <a:solidFill>
                  <a:srgbClr val="F3F8F7"/>
                </a:solidFill>
                <a:latin typeface="Arial"/>
                <a:ea typeface="Arial"/>
                <a:cs typeface="Arial"/>
              </a:defRPr>
            </a:pPr>
            <a:r>
              <a:rPr sz="1575" b="0">
                <a:solidFill>
                  <a:srgbClr val="F3F8F7"/>
                </a:solidFill>
                <a:latin typeface="Arial"/>
                <a:ea typeface="Arial"/>
                <a:cs typeface="Arial"/>
              </a:rPr>
              <a:t>5. Narula M, inventor; Stabilife LLC, solicitante. Wearable device to treat tremor. Solicitud de patente estadounidense US20220054349A1 [Internet]. 2022 Feb 24 [citado 16 sep 2026].</a:t>
            </a:r>
          </a:p>
        </p:txBody>
      </p:sp>
      <p:sp>
        <p:nvSpPr>
          <p:cNvPr id="7" name="Rectángulo 6">
            <a:extLst>
              <a:ext uri="{FF2B5EF4-FFF2-40B4-BE49-F238E27FC236}">
                <a16:creationId xmlns:a16="http://schemas.microsoft.com/office/drawing/2014/main" id="{154577B1-7493-437B-B0A8-7B6E9081C7C5}"/>
              </a:ext>
            </a:extLst>
          </p:cNvPr>
          <p:cNvSpPr>
            <a:spLocks noGrp="1"/>
          </p:cNvSpPr>
          <p:nvPr/>
        </p:nvSpPr>
        <p:spPr>
          <a:xfrm>
            <a:off x="609600" y="3886200"/>
            <a:ext cx="10972800" cy="314325"/>
          </a:xfrm>
          <a:prstGeom prst="rect">
            <a:avLst/>
          </a:prstGeom>
          <a:noFill/>
          <a:ln w="0">
            <a:noFill/>
          </a:ln>
        </p:spPr>
        <p:txBody>
          <a:bodyPr>
            <a:noAutofit/>
          </a:bodyPr>
          <a:lstStyle/>
          <a:p>
            <a:pPr>
              <a:defRPr sz="1425" b="0">
                <a:solidFill>
                  <a:srgbClr val="67E5BA"/>
                </a:solidFill>
                <a:latin typeface="Arial"/>
                <a:ea typeface="Arial"/>
                <a:cs typeface="Arial"/>
              </a:defRPr>
            </a:pPr>
            <a:r>
              <a:rPr>
                <a:hlinkClick r:id="rId4"/>
              </a:rPr>
              <a:t>Disponible en: patents.google.com/patent/US20220054349A1/en</a:t>
            </a:r>
          </a:p>
        </p:txBody>
      </p:sp>
      <p:sp>
        <p:nvSpPr>
          <p:cNvPr id="8" name="Rectángulo 7">
            <a:extLst>
              <a:ext uri="{FF2B5EF4-FFF2-40B4-BE49-F238E27FC236}">
                <a16:creationId xmlns:a16="http://schemas.microsoft.com/office/drawing/2014/main" id="{6E140DD3-4C26-4374-960B-9B254B44197E}"/>
              </a:ext>
            </a:extLst>
          </p:cNvPr>
          <p:cNvSpPr>
            <a:spLocks noGrp="1"/>
          </p:cNvSpPr>
          <p:nvPr/>
        </p:nvSpPr>
        <p:spPr>
          <a:xfrm>
            <a:off x="609600" y="4257675"/>
            <a:ext cx="10972800" cy="733425"/>
          </a:xfrm>
          <a:prstGeom prst="rect">
            <a:avLst/>
          </a:prstGeom>
          <a:noFill/>
          <a:ln w="0">
            <a:noFill/>
          </a:ln>
        </p:spPr>
        <p:txBody>
          <a:bodyPr>
            <a:noAutofit/>
          </a:bodyPr>
          <a:lstStyle/>
          <a:p>
            <a:pPr>
              <a:defRPr sz="1575" b="0">
                <a:solidFill>
                  <a:srgbClr val="F3F8F7"/>
                </a:solidFill>
                <a:latin typeface="Arial"/>
                <a:ea typeface="Arial"/>
                <a:cs typeface="Arial"/>
              </a:defRPr>
            </a:pPr>
            <a:r>
              <a:rPr sz="1575" b="0">
                <a:solidFill>
                  <a:srgbClr val="F3F8F7"/>
                </a:solidFill>
                <a:latin typeface="Arial"/>
                <a:ea typeface="Arial"/>
                <a:cs typeface="Arial"/>
              </a:rPr>
              <a:t>6. Prevost NE, Goddard NS, Spivey CC, inventores. Systems, methods, and devices for tremor reduction. Solicitud de patente estadounidense US20200163588A1 [Internet]. 2020 May 28 [citado 16 sep 2026].</a:t>
            </a:r>
          </a:p>
        </p:txBody>
      </p:sp>
      <p:sp>
        <p:nvSpPr>
          <p:cNvPr id="9" name="Rectángulo 8">
            <a:extLst>
              <a:ext uri="{FF2B5EF4-FFF2-40B4-BE49-F238E27FC236}">
                <a16:creationId xmlns:a16="http://schemas.microsoft.com/office/drawing/2014/main" id="{7846B4D2-0914-49F8-B1E5-48C99F494D4B}"/>
              </a:ext>
            </a:extLst>
          </p:cNvPr>
          <p:cNvSpPr>
            <a:spLocks noGrp="1"/>
          </p:cNvSpPr>
          <p:nvPr/>
        </p:nvSpPr>
        <p:spPr>
          <a:xfrm>
            <a:off x="609600" y="5010150"/>
            <a:ext cx="10972800" cy="314325"/>
          </a:xfrm>
          <a:prstGeom prst="rect">
            <a:avLst/>
          </a:prstGeom>
          <a:noFill/>
          <a:ln w="0">
            <a:noFill/>
          </a:ln>
        </p:spPr>
        <p:txBody>
          <a:bodyPr>
            <a:noAutofit/>
          </a:bodyPr>
          <a:lstStyle/>
          <a:p>
            <a:pPr>
              <a:defRPr sz="1425" b="0">
                <a:solidFill>
                  <a:srgbClr val="67E5BA"/>
                </a:solidFill>
                <a:latin typeface="Arial"/>
                <a:ea typeface="Arial"/>
                <a:cs typeface="Arial"/>
              </a:defRPr>
            </a:pPr>
            <a:r>
              <a:rPr>
                <a:hlinkClick r:id="rId5"/>
              </a:rPr>
              <a:t>Disponible en: patents.google.com/patent/US20200163588A1/en</a:t>
            </a:r>
          </a:p>
        </p:txBody>
      </p:sp>
      <p:sp>
        <p:nvSpPr>
          <p:cNvPr id="10" name="Rectángulo 9">
            <a:extLst>
              <a:ext uri="{FF2B5EF4-FFF2-40B4-BE49-F238E27FC236}">
                <a16:creationId xmlns:a16="http://schemas.microsoft.com/office/drawing/2014/main" id="{08E3A3F8-8591-4DA9-B6EF-704275637F28}"/>
              </a:ext>
            </a:extLst>
          </p:cNvPr>
          <p:cNvSpPr>
            <a:spLocks noGrp="1"/>
          </p:cNvSpPr>
          <p:nvPr/>
        </p:nvSpPr>
        <p:spPr>
          <a:xfrm>
            <a:off x="609600" y="5257800"/>
            <a:ext cx="10972800" cy="581025"/>
          </a:xfrm>
          <a:prstGeom prst="rect">
            <a:avLst/>
          </a:prstGeom>
          <a:noFill/>
          <a:ln w="0">
            <a:noFill/>
          </a:ln>
        </p:spPr>
        <p:txBody>
          <a:bodyPr>
            <a:noAutofit/>
          </a:bodyPr>
          <a:lstStyle/>
          <a:p>
            <a:pPr>
              <a:defRPr sz="1575" b="0">
                <a:solidFill>
                  <a:srgbClr val="F3F8F7"/>
                </a:solidFill>
                <a:latin typeface="Arial"/>
                <a:ea typeface="Arial"/>
                <a:cs typeface="Arial"/>
              </a:defRPr>
            </a:pPr>
            <a:r>
              <a:rPr sz="1575" b="0">
                <a:solidFill>
                  <a:srgbClr val="F3F8F7"/>
                </a:solidFill>
                <a:latin typeface="Arial"/>
                <a:ea typeface="Arial"/>
                <a:cs typeface="Arial"/>
              </a:rPr>
              <a:t>7. United Nations Statistics Division. SDG indicators: metadata repository [Internet]. New York: United Nations; [citado 16 sep 2026].</a:t>
            </a:r>
          </a:p>
        </p:txBody>
      </p:sp>
      <p:sp>
        <p:nvSpPr>
          <p:cNvPr id="11" name="Rectángulo 10">
            <a:extLst>
              <a:ext uri="{FF2B5EF4-FFF2-40B4-BE49-F238E27FC236}">
                <a16:creationId xmlns:a16="http://schemas.microsoft.com/office/drawing/2014/main" id="{CAAE1ED9-868E-40CC-A598-12E50FDBA5C9}"/>
              </a:ext>
            </a:extLst>
          </p:cNvPr>
          <p:cNvSpPr>
            <a:spLocks noGrp="1"/>
          </p:cNvSpPr>
          <p:nvPr/>
        </p:nvSpPr>
        <p:spPr>
          <a:xfrm>
            <a:off x="609600" y="5857875"/>
            <a:ext cx="10972800" cy="314325"/>
          </a:xfrm>
          <a:prstGeom prst="rect">
            <a:avLst/>
          </a:prstGeom>
          <a:noFill/>
          <a:ln w="0">
            <a:noFill/>
          </a:ln>
        </p:spPr>
        <p:txBody>
          <a:bodyPr>
            <a:noAutofit/>
          </a:bodyPr>
          <a:lstStyle/>
          <a:p>
            <a:pPr>
              <a:defRPr sz="1425" b="0">
                <a:solidFill>
                  <a:srgbClr val="67E5BA"/>
                </a:solidFill>
                <a:latin typeface="Arial"/>
                <a:ea typeface="Arial"/>
                <a:cs typeface="Arial"/>
              </a:defRPr>
            </a:pPr>
            <a:r>
              <a:rPr>
                <a:hlinkClick r:id="rId6"/>
              </a:rPr>
              <a:t>Disponible en: unstats.un.org/sdgs/metadata/</a:t>
            </a:r>
          </a:p>
        </p:txBody>
      </p:sp>
    </p:spTree>
    <p:extLst>
      <p:ext uri="{BB962C8B-B14F-4D97-AF65-F5344CB8AC3E}">
        <p14:creationId xmlns:p14="http://schemas.microsoft.com/office/powerpoint/2010/main" val="13120377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2584</Words>
  <Application>Microsoft Office PowerPoint</Application>
  <DocSecurity>0</DocSecurity>
  <PresentationFormat>Panorámica</PresentationFormat>
  <Paragraphs>202</Paragraphs>
  <Slides>10</Slides>
  <Notes>10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10</vt:i4>
      </vt:variant>
    </vt:vector>
  </HeadingPairs>
  <TitlesOfParts>
    <vt:vector size="13" baseType="lpstr">
      <vt:lpstr>Arial</vt: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Kevin Canchari Condori</cp:lastModifiedBy>
  <cp:revision>1</cp:revision>
  <dcterms:created xsi:type="dcterms:W3CDTF">2026-09-16T14:27:44Z</dcterms:created>
  <dcterms:modified xsi:type="dcterms:W3CDTF">2026-09-16T14:32:19Z</dcterms:modified>
</cp:coreProperties>
</file>